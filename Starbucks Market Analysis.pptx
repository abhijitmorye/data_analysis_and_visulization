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1"/>
  </p:sldMasterIdLst>
  <p:sldIdLst>
    <p:sldId id="257" r:id="rId2"/>
    <p:sldId id="259" r:id="rId3"/>
    <p:sldId id="260" r:id="rId4"/>
    <p:sldId id="261" r:id="rId5"/>
    <p:sldId id="262" r:id="rId6"/>
    <p:sldId id="263" r:id="rId7"/>
    <p:sldId id="265" r:id="rId8"/>
    <p:sldId id="266" r:id="rId9"/>
    <p:sldId id="267" r:id="rId10"/>
    <p:sldId id="268" r:id="rId11"/>
    <p:sldId id="269" r:id="rId12"/>
    <p:sldId id="270" r:id="rId13"/>
    <p:sldId id="271" r:id="rId14"/>
    <p:sldId id="272" r:id="rId15"/>
    <p:sldId id="274" r:id="rId16"/>
    <p:sldId id="276" r:id="rId17"/>
    <p:sldId id="277" r:id="rId18"/>
    <p:sldId id="278" r:id="rId19"/>
    <p:sldId id="279" r:id="rId20"/>
    <p:sldId id="280" r:id="rId21"/>
    <p:sldId id="282" r:id="rId22"/>
    <p:sldId id="283" r:id="rId23"/>
    <p:sldId id="284" r:id="rId24"/>
    <p:sldId id="285" r:id="rId25"/>
    <p:sldId id="281" r:id="rId26"/>
    <p:sldId id="286" r:id="rId27"/>
    <p:sldId id="287" r:id="rId28"/>
    <p:sldId id="275"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91" d="100"/>
          <a:sy n="91" d="100"/>
        </p:scale>
        <p:origin x="322"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9/28/2021</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9/28/2021</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9/28/2021</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9/28/2021</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9/28/2021</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9/28/2021</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9/28/2021</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9/28/2021</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9/28/2021</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9/28/2021</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9/28/2021</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9/28/2021</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github.com/abhijitmorye/Data_Analysis_and_Visulization.git" TargetMode="Externa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hyperlink" Target="https://www.forbes.com/sites/bernardmarr/2018/05/28/starbucks-using-big-data-analytics-and-artificial-intelligence-to-boost-performance/?sh=3df2e60065cd" TargetMode="External"/><Relationship Id="rId7" Type="http://schemas.openxmlformats.org/officeDocument/2006/relationships/hyperlink" Target="https://www.kaggle.com/umeshnarayanappa/explore-starbucks-worldwide-stores/data" TargetMode="External"/><Relationship Id="rId2" Type="http://schemas.openxmlformats.org/officeDocument/2006/relationships/hyperlink" Target="https://digital.hbs.edu/platform-digit/submission/starbucks-secret-ingredient-data-analytics/" TargetMode="External"/><Relationship Id="rId1" Type="http://schemas.openxmlformats.org/officeDocument/2006/relationships/slideLayout" Target="../slideLayouts/slideLayout2.xml"/><Relationship Id="rId6" Type="http://schemas.openxmlformats.org/officeDocument/2006/relationships/hyperlink" Target="https://www.thebalancesmb.com/starbucks-use-of-market-research-propels-the-brand-2297155" TargetMode="External"/><Relationship Id="rId5" Type="http://schemas.openxmlformats.org/officeDocument/2006/relationships/hyperlink" Target="https://demand-planning.com/2018/05/29/how-starbucks-uses-predictive-analytics-and-your-loyalty-card-data/" TargetMode="External"/><Relationship Id="rId4" Type="http://schemas.openxmlformats.org/officeDocument/2006/relationships/hyperlink" Target="https://en.wikipedia.org/wiki/Starbucks"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5289754" y="639097"/>
            <a:ext cx="6253317" cy="3686015"/>
          </a:xfrm>
        </p:spPr>
        <p:txBody>
          <a:bodyPr>
            <a:normAutofit/>
          </a:bodyPr>
          <a:lstStyle/>
          <a:p>
            <a:r>
              <a:rPr lang="en-US" sz="6000" dirty="0">
                <a:solidFill>
                  <a:srgbClr val="00B050"/>
                </a:solidFill>
                <a:latin typeface="Verdana" panose="020B0604030504040204" pitchFamily="34" charset="0"/>
                <a:ea typeface="Verdana" panose="020B0604030504040204" pitchFamily="34" charset="0"/>
              </a:rPr>
              <a:t>Starbucks Market Analysis</a:t>
            </a:r>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5289753" y="4672739"/>
            <a:ext cx="6269347" cy="1021498"/>
          </a:xfrm>
        </p:spPr>
        <p:txBody>
          <a:bodyPr>
            <a:normAutofit/>
          </a:bodyPr>
          <a:lstStyle/>
          <a:p>
            <a:pPr algn="r"/>
            <a:r>
              <a:rPr lang="en-US" sz="2400" dirty="0">
                <a:solidFill>
                  <a:schemeClr val="tx1">
                    <a:lumMod val="85000"/>
                    <a:lumOff val="15000"/>
                  </a:schemeClr>
                </a:solidFill>
                <a:latin typeface="Verdana" panose="020B0604030504040204" pitchFamily="34" charset="0"/>
                <a:ea typeface="Verdana" panose="020B0604030504040204" pitchFamily="34" charset="0"/>
              </a:rPr>
              <a:t>Abhijit Morye</a:t>
            </a:r>
          </a:p>
        </p:txBody>
      </p:sp>
      <p:pic>
        <p:nvPicPr>
          <p:cNvPr id="5" name="Picture 4">
            <a:extLst>
              <a:ext uri="{FF2B5EF4-FFF2-40B4-BE49-F238E27FC236}">
                <a16:creationId xmlns:a16="http://schemas.microsoft.com/office/drawing/2014/main" id="{282CF6DD-7FE8-4063-9551-1B7BBCE92AB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1"/>
            <a:ext cx="4571999" cy="6857999"/>
          </a:xfrm>
          <a:prstGeom prst="rect">
            <a:avLst/>
          </a:prstGeom>
        </p:spPr>
      </p:pic>
      <p:cxnSp>
        <p:nvCxnSpPr>
          <p:cNvPr id="24" name="Straight Connector 23">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33389-9FE6-4FC1-9E2D-3D30113EEBEB}"/>
              </a:ext>
            </a:extLst>
          </p:cNvPr>
          <p:cNvSpPr>
            <a:spLocks noGrp="1"/>
          </p:cNvSpPr>
          <p:nvPr>
            <p:ph type="title"/>
          </p:nvPr>
        </p:nvSpPr>
        <p:spPr>
          <a:xfrm>
            <a:off x="1097280" y="823499"/>
            <a:ext cx="10058400" cy="762020"/>
          </a:xfrm>
        </p:spPr>
        <p:txBody>
          <a:bodyPr>
            <a:normAutofit/>
          </a:bodyPr>
          <a:lstStyle/>
          <a:p>
            <a:r>
              <a:rPr lang="en-IN" sz="4500" dirty="0">
                <a:latin typeface="Verdana" panose="020B0604030504040204" pitchFamily="34" charset="0"/>
                <a:ea typeface="Verdana" panose="020B0604030504040204" pitchFamily="34" charset="0"/>
              </a:rPr>
              <a:t>Agenda</a:t>
            </a:r>
          </a:p>
        </p:txBody>
      </p:sp>
      <p:sp>
        <p:nvSpPr>
          <p:cNvPr id="3" name="Content Placeholder 2">
            <a:extLst>
              <a:ext uri="{FF2B5EF4-FFF2-40B4-BE49-F238E27FC236}">
                <a16:creationId xmlns:a16="http://schemas.microsoft.com/office/drawing/2014/main" id="{0A0E52D1-263F-455D-AC1A-50C7930F6517}"/>
              </a:ext>
            </a:extLst>
          </p:cNvPr>
          <p:cNvSpPr>
            <a:spLocks noGrp="1"/>
          </p:cNvSpPr>
          <p:nvPr>
            <p:ph idx="1"/>
          </p:nvPr>
        </p:nvSpPr>
        <p:spPr>
          <a:xfrm>
            <a:off x="1097280" y="2158535"/>
            <a:ext cx="10058400" cy="3760891"/>
          </a:xfrm>
        </p:spPr>
        <p:txBody>
          <a:bodyPr/>
          <a:lstStyle/>
          <a:p>
            <a:pPr>
              <a:buFont typeface="Wingdings" panose="05000000000000000000" pitchFamily="2" charset="2"/>
              <a:buChar char="Ø"/>
            </a:pPr>
            <a:r>
              <a:rPr lang="en-IN" dirty="0">
                <a:latin typeface="Verdana" panose="020B0604030504040204" pitchFamily="34" charset="0"/>
                <a:ea typeface="Verdana" panose="020B0604030504040204" pitchFamily="34" charset="0"/>
              </a:rPr>
              <a:t> Objective</a:t>
            </a:r>
          </a:p>
          <a:p>
            <a:pPr>
              <a:buFont typeface="Wingdings" panose="05000000000000000000" pitchFamily="2" charset="2"/>
              <a:buChar char="Ø"/>
            </a:pPr>
            <a:r>
              <a:rPr lang="en-IN" dirty="0">
                <a:latin typeface="Verdana" panose="020B0604030504040204" pitchFamily="34" charset="0"/>
                <a:ea typeface="Verdana" panose="020B0604030504040204" pitchFamily="34" charset="0"/>
              </a:rPr>
              <a:t> About Starbucks</a:t>
            </a:r>
          </a:p>
          <a:p>
            <a:pPr>
              <a:buFont typeface="Wingdings" panose="05000000000000000000" pitchFamily="2" charset="2"/>
              <a:buChar char="Ø"/>
            </a:pPr>
            <a:r>
              <a:rPr lang="en-IN" dirty="0">
                <a:latin typeface="Verdana" panose="020B0604030504040204" pitchFamily="34" charset="0"/>
                <a:ea typeface="Verdana" panose="020B0604030504040204" pitchFamily="34" charset="0"/>
              </a:rPr>
              <a:t> Different Data sources of Starbucks</a:t>
            </a:r>
          </a:p>
          <a:p>
            <a:pPr>
              <a:buFont typeface="Wingdings" panose="05000000000000000000" pitchFamily="2" charset="2"/>
              <a:buChar char="Ø"/>
            </a:pPr>
            <a:r>
              <a:rPr lang="en-IN" dirty="0">
                <a:latin typeface="Verdana" panose="020B0604030504040204" pitchFamily="34" charset="0"/>
                <a:ea typeface="Verdana" panose="020B0604030504040204" pitchFamily="34" charset="0"/>
              </a:rPr>
              <a:t> Understanding data collected from different sources</a:t>
            </a:r>
          </a:p>
          <a:p>
            <a:pPr>
              <a:buFont typeface="Wingdings" panose="05000000000000000000" pitchFamily="2" charset="2"/>
              <a:buChar char="Ø"/>
            </a:pPr>
            <a:r>
              <a:rPr lang="en-IN" dirty="0">
                <a:latin typeface="Verdana" panose="020B0604030504040204" pitchFamily="34" charset="0"/>
                <a:ea typeface="Verdana" panose="020B0604030504040204" pitchFamily="34" charset="0"/>
              </a:rPr>
              <a:t> Areas to be focused on for marketing</a:t>
            </a:r>
          </a:p>
          <a:p>
            <a:pPr>
              <a:buFont typeface="Wingdings" panose="05000000000000000000" pitchFamily="2" charset="2"/>
              <a:buChar char="Ø"/>
            </a:pPr>
            <a:r>
              <a:rPr lang="en-IN" sz="2000" dirty="0">
                <a:latin typeface="Verdana" panose="020B0604030504040204" pitchFamily="34" charset="0"/>
                <a:ea typeface="Verdana" panose="020B0604030504040204" pitchFamily="34" charset="0"/>
              </a:rPr>
              <a:t> Starbucks Stores Location Analysis</a:t>
            </a:r>
            <a:endParaRPr lang="en-IN" dirty="0">
              <a:latin typeface="Verdana" panose="020B0604030504040204" pitchFamily="34" charset="0"/>
              <a:ea typeface="Verdana" panose="020B0604030504040204" pitchFamily="34" charset="0"/>
            </a:endParaRPr>
          </a:p>
          <a:p>
            <a:pPr>
              <a:buFont typeface="Wingdings" panose="05000000000000000000" pitchFamily="2" charset="2"/>
              <a:buChar char="Ø"/>
            </a:pPr>
            <a:endParaRPr lang="en-IN" dirty="0">
              <a:latin typeface="Verdana" panose="020B0604030504040204" pitchFamily="34" charset="0"/>
              <a:ea typeface="Verdana" panose="020B0604030504040204" pitchFamily="34" charset="0"/>
            </a:endParaRPr>
          </a:p>
          <a:p>
            <a:pPr marL="0" indent="0">
              <a:buNone/>
            </a:pPr>
            <a:endParaRPr lang="en-IN"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5757743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ECD3F-C410-4410-86AA-624914A1675A}"/>
              </a:ext>
            </a:extLst>
          </p:cNvPr>
          <p:cNvSpPr>
            <a:spLocks noGrp="1"/>
          </p:cNvSpPr>
          <p:nvPr>
            <p:ph type="title"/>
          </p:nvPr>
        </p:nvSpPr>
        <p:spPr>
          <a:xfrm>
            <a:off x="1097280" y="286604"/>
            <a:ext cx="10058400" cy="1282138"/>
          </a:xfrm>
        </p:spPr>
        <p:txBody>
          <a:bodyPr>
            <a:normAutofit/>
          </a:bodyPr>
          <a:lstStyle/>
          <a:p>
            <a:r>
              <a:rPr lang="en-IN" sz="4500" dirty="0">
                <a:latin typeface="Verdana" panose="020B0604030504040204" pitchFamily="34" charset="0"/>
                <a:ea typeface="Verdana" panose="020B0604030504040204" pitchFamily="34" charset="0"/>
              </a:rPr>
              <a:t>Objective</a:t>
            </a:r>
          </a:p>
        </p:txBody>
      </p:sp>
      <p:sp>
        <p:nvSpPr>
          <p:cNvPr id="3" name="Content Placeholder 2">
            <a:extLst>
              <a:ext uri="{FF2B5EF4-FFF2-40B4-BE49-F238E27FC236}">
                <a16:creationId xmlns:a16="http://schemas.microsoft.com/office/drawing/2014/main" id="{F566E9EA-884C-4CF5-8599-5BE5DEA915A6}"/>
              </a:ext>
            </a:extLst>
          </p:cNvPr>
          <p:cNvSpPr>
            <a:spLocks noGrp="1"/>
          </p:cNvSpPr>
          <p:nvPr>
            <p:ph idx="1"/>
          </p:nvPr>
        </p:nvSpPr>
        <p:spPr/>
        <p:txBody>
          <a:bodyPr/>
          <a:lstStyle/>
          <a:p>
            <a:endParaRPr lang="en-US" dirty="0"/>
          </a:p>
          <a:p>
            <a:endParaRPr lang="en-US" dirty="0"/>
          </a:p>
          <a:p>
            <a:pPr marL="0" indent="0" algn="ctr">
              <a:buNone/>
            </a:pPr>
            <a:r>
              <a:rPr lang="en-US" sz="2200" b="1" dirty="0">
                <a:latin typeface="Verdana" panose="020B0604030504040204" pitchFamily="34" charset="0"/>
                <a:ea typeface="Verdana" panose="020B0604030504040204" pitchFamily="34" charset="0"/>
              </a:rPr>
              <a:t>Analyzing available Starbucks’s big data to draw better decisions that will help Starbucks to strengthen its position as a global leader in the coffee and snack industry.</a:t>
            </a:r>
            <a:endParaRPr lang="en-IN" sz="2200" b="1"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6086451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A5593-26F1-49A7-A379-47067EDD9000}"/>
              </a:ext>
            </a:extLst>
          </p:cNvPr>
          <p:cNvSpPr>
            <a:spLocks noGrp="1"/>
          </p:cNvSpPr>
          <p:nvPr>
            <p:ph type="title"/>
          </p:nvPr>
        </p:nvSpPr>
        <p:spPr>
          <a:xfrm>
            <a:off x="1097280" y="286604"/>
            <a:ext cx="10058400" cy="1273748"/>
          </a:xfrm>
        </p:spPr>
        <p:txBody>
          <a:bodyPr/>
          <a:lstStyle/>
          <a:p>
            <a:r>
              <a:rPr lang="en-IN" dirty="0"/>
              <a:t>About Starbucks</a:t>
            </a:r>
          </a:p>
        </p:txBody>
      </p:sp>
      <p:sp>
        <p:nvSpPr>
          <p:cNvPr id="3" name="Content Placeholder 2">
            <a:extLst>
              <a:ext uri="{FF2B5EF4-FFF2-40B4-BE49-F238E27FC236}">
                <a16:creationId xmlns:a16="http://schemas.microsoft.com/office/drawing/2014/main" id="{425391CF-1A8B-4963-A6D1-7BA0F34EB814}"/>
              </a:ext>
            </a:extLst>
          </p:cNvPr>
          <p:cNvSpPr>
            <a:spLocks noGrp="1"/>
          </p:cNvSpPr>
          <p:nvPr>
            <p:ph idx="1"/>
          </p:nvPr>
        </p:nvSpPr>
        <p:spPr/>
        <p:txBody>
          <a:bodyPr>
            <a:normAutofit/>
          </a:bodyPr>
          <a:lstStyle/>
          <a:p>
            <a:pPr marL="457200" indent="-457200">
              <a:buFont typeface="+mj-lt"/>
              <a:buAutoNum type="arabicPeriod"/>
            </a:pPr>
            <a:r>
              <a:rPr lang="en-US" sz="1500" dirty="0">
                <a:latin typeface="Verdana" panose="020B0604030504040204" pitchFamily="34" charset="0"/>
                <a:ea typeface="Verdana" panose="020B0604030504040204" pitchFamily="34" charset="0"/>
              </a:rPr>
              <a:t>American multinational chain of coffeehouses and roastery reserves founded in 1971 and  headquartered in Seattle, Washington.</a:t>
            </a:r>
          </a:p>
          <a:p>
            <a:pPr marL="457200" indent="-457200">
              <a:buFont typeface="+mj-lt"/>
              <a:buAutoNum type="arabicPeriod"/>
            </a:pPr>
            <a:r>
              <a:rPr lang="en-US" sz="1500" dirty="0">
                <a:latin typeface="Verdana" panose="020B0604030504040204" pitchFamily="34" charset="0"/>
                <a:ea typeface="Verdana" panose="020B0604030504040204" pitchFamily="34" charset="0"/>
              </a:rPr>
              <a:t>32,660 stores in 83 countries including 16,637 company operated stores and 16,023 licensed stores.</a:t>
            </a:r>
          </a:p>
          <a:p>
            <a:pPr marL="457200" indent="-457200">
              <a:buFont typeface="+mj-lt"/>
              <a:buAutoNum type="arabicPeriod"/>
            </a:pPr>
            <a:r>
              <a:rPr lang="en-US" sz="1500" dirty="0">
                <a:latin typeface="Verdana" panose="020B0604030504040204" pitchFamily="34" charset="0"/>
                <a:ea typeface="Verdana" panose="020B0604030504040204" pitchFamily="34" charset="0"/>
              </a:rPr>
              <a:t>Starbucks locations serve hot and cold drinks, whole-bean coffee, micro-ground instant coffee, espresso, caffe latte, full and loose-leaf teas, juices, Frappuccino beverages, pastries, and snacks.</a:t>
            </a:r>
          </a:p>
          <a:p>
            <a:pPr marL="457200" indent="-457200">
              <a:buFont typeface="+mj-lt"/>
              <a:buAutoNum type="arabicPeriod"/>
            </a:pPr>
            <a:r>
              <a:rPr lang="en-US" sz="1500" dirty="0">
                <a:latin typeface="Verdana" panose="020B0604030504040204" pitchFamily="34" charset="0"/>
                <a:ea typeface="Verdana" panose="020B0604030504040204" pitchFamily="34" charset="0"/>
              </a:rPr>
              <a:t>Total revenue of 23.51 billion dollars earned from  beverages and food products in year of 2020.</a:t>
            </a:r>
          </a:p>
          <a:p>
            <a:pPr marL="457200" indent="-457200">
              <a:buFont typeface="+mj-lt"/>
              <a:buAutoNum type="arabicPeriod"/>
            </a:pPr>
            <a:r>
              <a:rPr lang="en-US" sz="1500" dirty="0">
                <a:latin typeface="Verdana" panose="020B0604030504040204" pitchFamily="34" charset="0"/>
                <a:ea typeface="Verdana" panose="020B0604030504040204" pitchFamily="34" charset="0"/>
              </a:rPr>
              <a:t>Total Starbucks employee count is 3,49,000 in 2020.</a:t>
            </a:r>
          </a:p>
          <a:p>
            <a:pPr marL="457200" indent="-457200">
              <a:buFont typeface="+mj-lt"/>
              <a:buAutoNum type="arabicPeriod"/>
            </a:pPr>
            <a:r>
              <a:rPr lang="en-US" sz="1500" dirty="0">
                <a:latin typeface="Verdana" panose="020B0604030504040204" pitchFamily="34" charset="0"/>
                <a:ea typeface="Verdana" panose="020B0604030504040204" pitchFamily="34" charset="0"/>
              </a:rPr>
              <a:t>Starbucks also markets their products through other channels such as licensed stores, grocery and national foodservice accounts.</a:t>
            </a:r>
          </a:p>
          <a:p>
            <a:pPr marL="457200" indent="-457200">
              <a:buFont typeface="+mj-lt"/>
              <a:buAutoNum type="arabicPeriod"/>
            </a:pPr>
            <a:endParaRPr lang="en-US" sz="1500" dirty="0">
              <a:latin typeface="Verdana" panose="020B0604030504040204" pitchFamily="34" charset="0"/>
              <a:ea typeface="Verdana" panose="020B0604030504040204" pitchFamily="34" charset="0"/>
            </a:endParaRPr>
          </a:p>
          <a:p>
            <a:pPr marL="457200" indent="-457200">
              <a:buFont typeface="+mj-lt"/>
              <a:buAutoNum type="arabicPeriod"/>
            </a:pPr>
            <a:endParaRPr lang="en-IN" sz="15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371054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0FE7E-DDA6-4193-9D22-597B9373B715}"/>
              </a:ext>
            </a:extLst>
          </p:cNvPr>
          <p:cNvSpPr>
            <a:spLocks noGrp="1"/>
          </p:cNvSpPr>
          <p:nvPr>
            <p:ph type="title"/>
          </p:nvPr>
        </p:nvSpPr>
        <p:spPr>
          <a:xfrm>
            <a:off x="1097280" y="286604"/>
            <a:ext cx="10058400" cy="1164692"/>
          </a:xfrm>
        </p:spPr>
        <p:txBody>
          <a:bodyPr>
            <a:normAutofit fontScale="90000"/>
          </a:bodyPr>
          <a:lstStyle/>
          <a:p>
            <a:r>
              <a:rPr lang="en-IN" sz="4400" dirty="0">
                <a:latin typeface="Verdana" panose="020B0604030504040204" pitchFamily="34" charset="0"/>
                <a:ea typeface="Verdana" panose="020B0604030504040204" pitchFamily="34" charset="0"/>
              </a:rPr>
              <a:t>Different</a:t>
            </a:r>
            <a:r>
              <a:rPr lang="en-IN" dirty="0">
                <a:latin typeface="Verdana" panose="020B0604030504040204" pitchFamily="34" charset="0"/>
                <a:ea typeface="Verdana" panose="020B0604030504040204" pitchFamily="34" charset="0"/>
              </a:rPr>
              <a:t> Data sources of Starbucks</a:t>
            </a:r>
          </a:p>
        </p:txBody>
      </p:sp>
      <p:sp>
        <p:nvSpPr>
          <p:cNvPr id="3" name="Content Placeholder 2">
            <a:extLst>
              <a:ext uri="{FF2B5EF4-FFF2-40B4-BE49-F238E27FC236}">
                <a16:creationId xmlns:a16="http://schemas.microsoft.com/office/drawing/2014/main" id="{24997151-F257-4211-A40E-DC6EF3EA8EF5}"/>
              </a:ext>
            </a:extLst>
          </p:cNvPr>
          <p:cNvSpPr>
            <a:spLocks noGrp="1"/>
          </p:cNvSpPr>
          <p:nvPr>
            <p:ph idx="1"/>
          </p:nvPr>
        </p:nvSpPr>
        <p:spPr/>
        <p:txBody>
          <a:bodyPr>
            <a:normAutofit/>
          </a:bodyPr>
          <a:lstStyle/>
          <a:p>
            <a:pPr marL="457200" indent="-457200">
              <a:buFont typeface="+mj-lt"/>
              <a:buAutoNum type="arabicPeriod"/>
            </a:pPr>
            <a:r>
              <a:rPr lang="en-IN" dirty="0">
                <a:latin typeface="Verdana" panose="020B0604030504040204" pitchFamily="34" charset="0"/>
                <a:ea typeface="Verdana" panose="020B0604030504040204" pitchFamily="34" charset="0"/>
              </a:rPr>
              <a:t>The company completes over 100 million transactions per week across globe. During these transactions, Starbucks collects vast amount data from different channels. </a:t>
            </a:r>
          </a:p>
          <a:p>
            <a:pPr marL="457200" indent="-457200">
              <a:buFont typeface="+mj-lt"/>
              <a:buAutoNum type="arabicPeriod"/>
            </a:pPr>
            <a:r>
              <a:rPr lang="en-IN" dirty="0">
                <a:latin typeface="Verdana" panose="020B0604030504040204" pitchFamily="34" charset="0"/>
                <a:ea typeface="Verdana" panose="020B0604030504040204" pitchFamily="34" charset="0"/>
              </a:rPr>
              <a:t>Below are the channels through which Starbucks collects their customer data.</a:t>
            </a:r>
          </a:p>
          <a:p>
            <a:pPr marL="457200" indent="-457200">
              <a:buFont typeface="+mj-lt"/>
              <a:buAutoNum type="arabicPeriod"/>
            </a:pPr>
            <a:endParaRPr lang="en-IN" b="1" dirty="0">
              <a:latin typeface="Verdana" panose="020B0604030504040204" pitchFamily="34" charset="0"/>
              <a:ea typeface="Verdana" panose="020B0604030504040204" pitchFamily="34" charset="0"/>
            </a:endParaRPr>
          </a:p>
          <a:p>
            <a:pPr marL="749808" lvl="1" indent="-457200">
              <a:buFont typeface="+mj-lt"/>
              <a:buAutoNum type="arabicPeriod"/>
            </a:pPr>
            <a:r>
              <a:rPr lang="en-IN" dirty="0">
                <a:latin typeface="Verdana" panose="020B0604030504040204" pitchFamily="34" charset="0"/>
                <a:ea typeface="Verdana" panose="020B0604030504040204" pitchFamily="34" charset="0"/>
              </a:rPr>
              <a:t>In-store customer purchasing patterns.</a:t>
            </a:r>
          </a:p>
          <a:p>
            <a:pPr marL="749808" lvl="1" indent="-457200">
              <a:buFont typeface="+mj-lt"/>
              <a:buAutoNum type="arabicPeriod"/>
            </a:pPr>
            <a:r>
              <a:rPr lang="en-IN" dirty="0">
                <a:latin typeface="Verdana" panose="020B0604030504040204" pitchFamily="34" charset="0"/>
                <a:ea typeface="Verdana" panose="020B0604030504040204" pitchFamily="34" charset="0"/>
              </a:rPr>
              <a:t>Data collected from Starbucks mobile application.</a:t>
            </a:r>
          </a:p>
          <a:p>
            <a:pPr marL="749808" lvl="1" indent="-457200">
              <a:buFont typeface="+mj-lt"/>
              <a:buAutoNum type="arabicPeriod"/>
            </a:pPr>
            <a:r>
              <a:rPr lang="en-IN" dirty="0">
                <a:latin typeface="Verdana" panose="020B0604030504040204" pitchFamily="34" charset="0"/>
                <a:ea typeface="Verdana" panose="020B0604030504040204" pitchFamily="34" charset="0"/>
              </a:rPr>
              <a:t>Data collected through loyalty cards program.</a:t>
            </a:r>
          </a:p>
          <a:p>
            <a:pPr marL="749808" lvl="1" indent="-457200">
              <a:buFont typeface="+mj-lt"/>
              <a:buAutoNum type="arabicPeriod"/>
            </a:pPr>
            <a:r>
              <a:rPr lang="en-IN" dirty="0">
                <a:latin typeface="Verdana" panose="020B0604030504040204" pitchFamily="34" charset="0"/>
                <a:ea typeface="Verdana" panose="020B0604030504040204" pitchFamily="34" charset="0"/>
              </a:rPr>
              <a:t>Data collected from customer market research i.e. survey.</a:t>
            </a:r>
          </a:p>
          <a:p>
            <a:pPr marL="749808" lvl="1" indent="-457200">
              <a:buFont typeface="+mj-lt"/>
              <a:buAutoNum type="arabicPeriod"/>
            </a:pPr>
            <a:r>
              <a:rPr lang="en-IN" dirty="0">
                <a:latin typeface="Verdana" panose="020B0604030504040204" pitchFamily="34" charset="0"/>
                <a:ea typeface="Verdana" panose="020B0604030504040204" pitchFamily="34" charset="0"/>
              </a:rPr>
              <a:t>Demographic data.</a:t>
            </a:r>
          </a:p>
        </p:txBody>
      </p:sp>
    </p:spTree>
    <p:extLst>
      <p:ext uri="{BB962C8B-B14F-4D97-AF65-F5344CB8AC3E}">
        <p14:creationId xmlns:p14="http://schemas.microsoft.com/office/powerpoint/2010/main" val="14373468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4826E-4EC0-4450-BE32-8DBE51AEFEC5}"/>
              </a:ext>
            </a:extLst>
          </p:cNvPr>
          <p:cNvSpPr>
            <a:spLocks noGrp="1"/>
          </p:cNvSpPr>
          <p:nvPr>
            <p:ph type="title"/>
          </p:nvPr>
        </p:nvSpPr>
        <p:spPr>
          <a:xfrm>
            <a:off x="1097280" y="419145"/>
            <a:ext cx="10058400" cy="1139525"/>
          </a:xfrm>
        </p:spPr>
        <p:txBody>
          <a:bodyPr>
            <a:noAutofit/>
          </a:bodyPr>
          <a:lstStyle/>
          <a:p>
            <a:r>
              <a:rPr lang="en-IN" sz="4000" dirty="0"/>
              <a:t>Understanding data collected from different sources</a:t>
            </a:r>
          </a:p>
        </p:txBody>
      </p:sp>
      <p:sp>
        <p:nvSpPr>
          <p:cNvPr id="3" name="Content Placeholder 2">
            <a:extLst>
              <a:ext uri="{FF2B5EF4-FFF2-40B4-BE49-F238E27FC236}">
                <a16:creationId xmlns:a16="http://schemas.microsoft.com/office/drawing/2014/main" id="{AAF0EB4D-5376-4F6C-9EFB-C1031499ABB3}"/>
              </a:ext>
            </a:extLst>
          </p:cNvPr>
          <p:cNvSpPr>
            <a:spLocks noGrp="1"/>
          </p:cNvSpPr>
          <p:nvPr>
            <p:ph idx="1"/>
          </p:nvPr>
        </p:nvSpPr>
        <p:spPr>
          <a:xfrm>
            <a:off x="1097280" y="2376648"/>
            <a:ext cx="10058400" cy="3760891"/>
          </a:xfrm>
        </p:spPr>
        <p:txBody>
          <a:bodyPr>
            <a:normAutofit fontScale="92500" lnSpcReduction="10000"/>
          </a:bodyPr>
          <a:lstStyle/>
          <a:p>
            <a:pPr marL="749808" lvl="1" indent="-457200">
              <a:buFont typeface="Wingdings" panose="05000000000000000000" pitchFamily="2" charset="2"/>
              <a:buChar char="v"/>
            </a:pPr>
            <a:r>
              <a:rPr lang="en-IN" b="1" dirty="0">
                <a:latin typeface="Verdana" panose="020B0604030504040204" pitchFamily="34" charset="0"/>
                <a:ea typeface="Verdana" panose="020B0604030504040204" pitchFamily="34" charset="0"/>
              </a:rPr>
              <a:t>In-store customer purchasing patterns –</a:t>
            </a:r>
          </a:p>
          <a:p>
            <a:pPr marL="292608" lvl="1" indent="0">
              <a:buNone/>
            </a:pPr>
            <a:endParaRPr lang="en-IN" dirty="0">
              <a:latin typeface="Verdana" panose="020B0604030504040204" pitchFamily="34" charset="0"/>
              <a:ea typeface="Verdana" panose="020B0604030504040204" pitchFamily="34" charset="0"/>
            </a:endParaRPr>
          </a:p>
          <a:p>
            <a:pPr marL="932688" lvl="2" indent="-457200">
              <a:buFont typeface="Wingdings" panose="05000000000000000000" pitchFamily="2" charset="2"/>
              <a:buChar char="§"/>
            </a:pPr>
            <a:r>
              <a:rPr lang="en-IN" dirty="0">
                <a:latin typeface="Verdana" panose="020B0604030504040204" pitchFamily="34" charset="0"/>
                <a:ea typeface="Verdana" panose="020B0604030504040204" pitchFamily="34" charset="0"/>
              </a:rPr>
              <a:t>Different data such as at what time there would be more rush at the </a:t>
            </a:r>
          </a:p>
          <a:p>
            <a:pPr marL="475488" lvl="2" indent="0">
              <a:buNone/>
            </a:pPr>
            <a:r>
              <a:rPr lang="en-IN" dirty="0">
                <a:latin typeface="Verdana" panose="020B0604030504040204" pitchFamily="34" charset="0"/>
                <a:ea typeface="Verdana" panose="020B0604030504040204" pitchFamily="34" charset="0"/>
              </a:rPr>
              <a:t>	store, e.g. morning/afternoon/night</a:t>
            </a:r>
          </a:p>
          <a:p>
            <a:pPr marL="475488" lvl="2" indent="0">
              <a:buNone/>
            </a:pPr>
            <a:endParaRPr lang="en-IN" dirty="0">
              <a:latin typeface="Verdana" panose="020B0604030504040204" pitchFamily="34" charset="0"/>
              <a:ea typeface="Verdana" panose="020B0604030504040204" pitchFamily="34" charset="0"/>
            </a:endParaRPr>
          </a:p>
          <a:p>
            <a:pPr marL="932688" lvl="2" indent="-457200">
              <a:buFont typeface="Wingdings" panose="05000000000000000000" pitchFamily="2" charset="2"/>
              <a:buChar char="§"/>
            </a:pPr>
            <a:r>
              <a:rPr lang="en-IN" dirty="0">
                <a:latin typeface="Verdana" panose="020B0604030504040204" pitchFamily="34" charset="0"/>
                <a:ea typeface="Verdana" panose="020B0604030504040204" pitchFamily="34" charset="0"/>
              </a:rPr>
              <a:t>Data about people who visit stores such as age groups, gender</a:t>
            </a:r>
          </a:p>
          <a:p>
            <a:pPr marL="475488" lvl="2" indent="0">
              <a:buNone/>
            </a:pPr>
            <a:endParaRPr lang="en-IN" dirty="0">
              <a:latin typeface="Verdana" panose="020B0604030504040204" pitchFamily="34" charset="0"/>
              <a:ea typeface="Verdana" panose="020B0604030504040204" pitchFamily="34" charset="0"/>
            </a:endParaRPr>
          </a:p>
          <a:p>
            <a:pPr marL="932688" lvl="2" indent="-457200">
              <a:buFont typeface="Wingdings" panose="05000000000000000000" pitchFamily="2" charset="2"/>
              <a:buChar char="§"/>
            </a:pPr>
            <a:r>
              <a:rPr lang="en-IN" dirty="0">
                <a:latin typeface="Verdana" panose="020B0604030504040204" pitchFamily="34" charset="0"/>
                <a:ea typeface="Verdana" panose="020B0604030504040204" pitchFamily="34" charset="0"/>
              </a:rPr>
              <a:t>Data about payment methods used by customers at the stores, </a:t>
            </a:r>
          </a:p>
          <a:p>
            <a:pPr marL="475488" lvl="2" indent="0">
              <a:buNone/>
            </a:pPr>
            <a:r>
              <a:rPr lang="en-IN" dirty="0">
                <a:latin typeface="Verdana" panose="020B0604030504040204" pitchFamily="34" charset="0"/>
                <a:ea typeface="Verdana" panose="020B0604030504040204" pitchFamily="34" charset="0"/>
              </a:rPr>
              <a:t>	e.g. by cash, by cards</a:t>
            </a:r>
          </a:p>
          <a:p>
            <a:pPr marL="475488" lvl="2" indent="0">
              <a:buNone/>
            </a:pPr>
            <a:endParaRPr lang="en-IN" dirty="0">
              <a:latin typeface="Verdana" panose="020B0604030504040204" pitchFamily="34" charset="0"/>
              <a:ea typeface="Verdana" panose="020B0604030504040204" pitchFamily="34" charset="0"/>
            </a:endParaRPr>
          </a:p>
          <a:p>
            <a:pPr marL="932688" lvl="2" indent="-457200">
              <a:buFont typeface="Wingdings" panose="05000000000000000000" pitchFamily="2" charset="2"/>
              <a:buChar char="§"/>
            </a:pPr>
            <a:r>
              <a:rPr lang="en-IN" dirty="0">
                <a:latin typeface="Verdana" panose="020B0604030504040204" pitchFamily="34" charset="0"/>
                <a:ea typeface="Verdana" panose="020B0604030504040204" pitchFamily="34" charset="0"/>
              </a:rPr>
              <a:t>Data about which drinks or beverages and food snacks are famous </a:t>
            </a:r>
          </a:p>
          <a:p>
            <a:pPr marL="475488" lvl="2" indent="0">
              <a:buNone/>
            </a:pPr>
            <a:r>
              <a:rPr lang="en-IN" dirty="0">
                <a:latin typeface="Verdana" panose="020B0604030504040204" pitchFamily="34" charset="0"/>
                <a:ea typeface="Verdana" panose="020B0604030504040204" pitchFamily="34" charset="0"/>
              </a:rPr>
              <a:t>	at particular stores, e.g. latte, cappuccino</a:t>
            </a:r>
          </a:p>
          <a:p>
            <a:pPr marL="475488" lvl="2" indent="0">
              <a:buNone/>
            </a:pPr>
            <a:endParaRPr lang="en-IN" dirty="0">
              <a:latin typeface="Verdana" panose="020B0604030504040204" pitchFamily="34" charset="0"/>
              <a:ea typeface="Verdana" panose="020B0604030504040204" pitchFamily="34" charset="0"/>
            </a:endParaRPr>
          </a:p>
          <a:p>
            <a:pPr marL="932688" lvl="2" indent="-457200">
              <a:buFont typeface="Wingdings" panose="05000000000000000000" pitchFamily="2" charset="2"/>
              <a:buChar char="§"/>
            </a:pPr>
            <a:r>
              <a:rPr lang="en-IN" dirty="0">
                <a:latin typeface="Verdana" panose="020B0604030504040204" pitchFamily="34" charset="0"/>
                <a:ea typeface="Verdana" panose="020B0604030504040204" pitchFamily="34" charset="0"/>
              </a:rPr>
              <a:t>Data about purchasing patterns which is affected by the cultural and regional aspects of locations in which store is located. </a:t>
            </a:r>
          </a:p>
        </p:txBody>
      </p:sp>
      <p:pic>
        <p:nvPicPr>
          <p:cNvPr id="4" name="Picture 2" descr="People queing up on coffee and snackbar">
            <a:extLst>
              <a:ext uri="{FF2B5EF4-FFF2-40B4-BE49-F238E27FC236}">
                <a16:creationId xmlns:a16="http://schemas.microsoft.com/office/drawing/2014/main" id="{EC641FD3-9A29-43B2-9C1E-4E04234EBF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12351" y="2919369"/>
            <a:ext cx="3480406" cy="231955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5307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4826E-4EC0-4450-BE32-8DBE51AEFEC5}"/>
              </a:ext>
            </a:extLst>
          </p:cNvPr>
          <p:cNvSpPr>
            <a:spLocks noGrp="1"/>
          </p:cNvSpPr>
          <p:nvPr>
            <p:ph type="title"/>
          </p:nvPr>
        </p:nvSpPr>
        <p:spPr>
          <a:xfrm>
            <a:off x="1097280" y="419145"/>
            <a:ext cx="10058400" cy="1139525"/>
          </a:xfrm>
        </p:spPr>
        <p:txBody>
          <a:bodyPr>
            <a:noAutofit/>
          </a:bodyPr>
          <a:lstStyle/>
          <a:p>
            <a:r>
              <a:rPr lang="en-IN" sz="4000" dirty="0">
                <a:latin typeface="Verdana" panose="020B0604030504040204" pitchFamily="34" charset="0"/>
                <a:ea typeface="Verdana" panose="020B0604030504040204" pitchFamily="34" charset="0"/>
              </a:rPr>
              <a:t>Understanding data collected from different sources</a:t>
            </a:r>
          </a:p>
        </p:txBody>
      </p:sp>
      <p:sp>
        <p:nvSpPr>
          <p:cNvPr id="3" name="Content Placeholder 2">
            <a:extLst>
              <a:ext uri="{FF2B5EF4-FFF2-40B4-BE49-F238E27FC236}">
                <a16:creationId xmlns:a16="http://schemas.microsoft.com/office/drawing/2014/main" id="{AAF0EB4D-5376-4F6C-9EFB-C1031499ABB3}"/>
              </a:ext>
            </a:extLst>
          </p:cNvPr>
          <p:cNvSpPr>
            <a:spLocks noGrp="1"/>
          </p:cNvSpPr>
          <p:nvPr>
            <p:ph idx="1"/>
          </p:nvPr>
        </p:nvSpPr>
        <p:spPr>
          <a:xfrm>
            <a:off x="1097280" y="2128192"/>
            <a:ext cx="10058400" cy="3760891"/>
          </a:xfrm>
        </p:spPr>
        <p:txBody>
          <a:bodyPr>
            <a:normAutofit fontScale="85000" lnSpcReduction="20000"/>
          </a:bodyPr>
          <a:lstStyle/>
          <a:p>
            <a:pPr marL="749808" lvl="1" indent="-457200">
              <a:buFont typeface="Wingdings" panose="05000000000000000000" pitchFamily="2" charset="2"/>
              <a:buChar char="v"/>
            </a:pPr>
            <a:r>
              <a:rPr lang="en-IN" dirty="0">
                <a:latin typeface="Verdana" panose="020B0604030504040204" pitchFamily="34" charset="0"/>
                <a:ea typeface="Verdana" panose="020B0604030504040204" pitchFamily="34" charset="0"/>
              </a:rPr>
              <a:t> </a:t>
            </a:r>
            <a:r>
              <a:rPr lang="en-IN" b="1" dirty="0">
                <a:latin typeface="Verdana" panose="020B0604030504040204" pitchFamily="34" charset="0"/>
                <a:ea typeface="Verdana" panose="020B0604030504040204" pitchFamily="34" charset="0"/>
              </a:rPr>
              <a:t>Data collected from Starbucks mobile application –</a:t>
            </a:r>
          </a:p>
          <a:p>
            <a:pPr marL="475488" lvl="2" indent="0">
              <a:buNone/>
            </a:pPr>
            <a:endParaRPr lang="en-IN" dirty="0">
              <a:latin typeface="Verdana" panose="020B0604030504040204" pitchFamily="34" charset="0"/>
              <a:ea typeface="Verdana" panose="020B0604030504040204" pitchFamily="34" charset="0"/>
            </a:endParaRPr>
          </a:p>
          <a:p>
            <a:pPr marL="932688" lvl="2" indent="-457200">
              <a:buFont typeface="Wingdings" panose="05000000000000000000" pitchFamily="2" charset="2"/>
              <a:buChar char="§"/>
            </a:pPr>
            <a:r>
              <a:rPr lang="en-IN" dirty="0">
                <a:latin typeface="Verdana" panose="020B0604030504040204" pitchFamily="34" charset="0"/>
                <a:ea typeface="Verdana" panose="020B0604030504040204" pitchFamily="34" charset="0"/>
              </a:rPr>
              <a:t>Data collected at the time of user registrations such as name, </a:t>
            </a:r>
          </a:p>
          <a:p>
            <a:pPr marL="475488" lvl="2" indent="0">
              <a:buNone/>
            </a:pPr>
            <a:r>
              <a:rPr lang="en-IN" dirty="0">
                <a:latin typeface="Verdana" panose="020B0604030504040204" pitchFamily="34" charset="0"/>
                <a:ea typeface="Verdana" panose="020B0604030504040204" pitchFamily="34" charset="0"/>
              </a:rPr>
              <a:t>	age, gender, address, income, preferred payment method,</a:t>
            </a:r>
          </a:p>
          <a:p>
            <a:pPr marL="475488" lvl="2" indent="0">
              <a:buNone/>
            </a:pPr>
            <a:r>
              <a:rPr lang="en-IN" dirty="0">
                <a:latin typeface="Verdana" panose="020B0604030504040204" pitchFamily="34" charset="0"/>
                <a:ea typeface="Verdana" panose="020B0604030504040204" pitchFamily="34" charset="0"/>
              </a:rPr>
              <a:t>	card details, contact info, occupation, email ids</a:t>
            </a:r>
          </a:p>
          <a:p>
            <a:pPr marL="932688" lvl="2" indent="-457200">
              <a:buFont typeface="Wingdings" panose="05000000000000000000" pitchFamily="2" charset="2"/>
              <a:buChar char="§"/>
            </a:pPr>
            <a:endParaRPr lang="en-IN" dirty="0">
              <a:latin typeface="Verdana" panose="020B0604030504040204" pitchFamily="34" charset="0"/>
              <a:ea typeface="Verdana" panose="020B0604030504040204" pitchFamily="34" charset="0"/>
            </a:endParaRPr>
          </a:p>
          <a:p>
            <a:pPr marL="932688" lvl="2" indent="-457200">
              <a:buFont typeface="Wingdings" panose="05000000000000000000" pitchFamily="2" charset="2"/>
              <a:buChar char="§"/>
            </a:pPr>
            <a:r>
              <a:rPr lang="en-IN" dirty="0">
                <a:latin typeface="Verdana" panose="020B0604030504040204" pitchFamily="34" charset="0"/>
                <a:ea typeface="Verdana" panose="020B0604030504040204" pitchFamily="34" charset="0"/>
              </a:rPr>
              <a:t>Data about when in a day and from where user place an order for </a:t>
            </a:r>
          </a:p>
          <a:p>
            <a:pPr marL="475488" lvl="2" indent="0">
              <a:buNone/>
            </a:pPr>
            <a:r>
              <a:rPr lang="en-IN" dirty="0">
                <a:latin typeface="Verdana" panose="020B0604030504040204" pitchFamily="34" charset="0"/>
                <a:ea typeface="Verdana" panose="020B0604030504040204" pitchFamily="34" charset="0"/>
              </a:rPr>
              <a:t>	drinks or foods.</a:t>
            </a:r>
          </a:p>
          <a:p>
            <a:pPr marL="932688" lvl="2" indent="-457200">
              <a:buFont typeface="Wingdings" panose="05000000000000000000" pitchFamily="2" charset="2"/>
              <a:buChar char="§"/>
            </a:pPr>
            <a:endParaRPr lang="en-IN" dirty="0">
              <a:latin typeface="Verdana" panose="020B0604030504040204" pitchFamily="34" charset="0"/>
              <a:ea typeface="Verdana" panose="020B0604030504040204" pitchFamily="34" charset="0"/>
            </a:endParaRPr>
          </a:p>
          <a:p>
            <a:pPr marL="932688" lvl="2" indent="-457200">
              <a:buFont typeface="Wingdings" panose="05000000000000000000" pitchFamily="2" charset="2"/>
              <a:buChar char="§"/>
            </a:pPr>
            <a:r>
              <a:rPr lang="en-IN" dirty="0">
                <a:latin typeface="Verdana" panose="020B0604030504040204" pitchFamily="34" charset="0"/>
                <a:ea typeface="Verdana" panose="020B0604030504040204" pitchFamily="34" charset="0"/>
              </a:rPr>
              <a:t>Data about how many orders Starbucks receive within particular </a:t>
            </a:r>
          </a:p>
          <a:p>
            <a:pPr marL="475488" lvl="2" indent="0">
              <a:buNone/>
            </a:pPr>
            <a:r>
              <a:rPr lang="en-IN" dirty="0">
                <a:latin typeface="Verdana" panose="020B0604030504040204" pitchFamily="34" charset="0"/>
                <a:ea typeface="Verdana" panose="020B0604030504040204" pitchFamily="34" charset="0"/>
              </a:rPr>
              <a:t>	location in city.</a:t>
            </a:r>
          </a:p>
          <a:p>
            <a:pPr marL="932688" lvl="2" indent="-457200">
              <a:buFont typeface="Wingdings" panose="05000000000000000000" pitchFamily="2" charset="2"/>
              <a:buChar char="§"/>
            </a:pPr>
            <a:endParaRPr lang="en-IN" dirty="0">
              <a:latin typeface="Verdana" panose="020B0604030504040204" pitchFamily="34" charset="0"/>
              <a:ea typeface="Verdana" panose="020B0604030504040204" pitchFamily="34" charset="0"/>
            </a:endParaRPr>
          </a:p>
          <a:p>
            <a:pPr marL="932688" lvl="2" indent="-457200">
              <a:buFont typeface="Wingdings" panose="05000000000000000000" pitchFamily="2" charset="2"/>
              <a:buChar char="§"/>
            </a:pPr>
            <a:r>
              <a:rPr lang="en-IN" dirty="0">
                <a:latin typeface="Verdana" panose="020B0604030504040204" pitchFamily="34" charset="0"/>
                <a:ea typeface="Verdana" panose="020B0604030504040204" pitchFamily="34" charset="0"/>
              </a:rPr>
              <a:t>How frequently customer place an orders in a day using an application</a:t>
            </a:r>
          </a:p>
          <a:p>
            <a:pPr marL="932688" lvl="2" indent="-457200">
              <a:buFont typeface="Wingdings" panose="05000000000000000000" pitchFamily="2" charset="2"/>
              <a:buChar char="§"/>
            </a:pPr>
            <a:endParaRPr lang="en-IN" dirty="0">
              <a:latin typeface="Verdana" panose="020B0604030504040204" pitchFamily="34" charset="0"/>
              <a:ea typeface="Verdana" panose="020B0604030504040204" pitchFamily="34" charset="0"/>
            </a:endParaRPr>
          </a:p>
          <a:p>
            <a:pPr marL="932688" lvl="2" indent="-457200">
              <a:buFont typeface="Wingdings" panose="05000000000000000000" pitchFamily="2" charset="2"/>
              <a:buChar char="§"/>
            </a:pPr>
            <a:r>
              <a:rPr lang="en-IN" dirty="0">
                <a:latin typeface="Verdana" panose="020B0604030504040204" pitchFamily="34" charset="0"/>
                <a:ea typeface="Verdana" panose="020B0604030504040204" pitchFamily="34" charset="0"/>
              </a:rPr>
              <a:t>Customer’s browsing patterns of beverages and foods</a:t>
            </a:r>
          </a:p>
          <a:p>
            <a:pPr marL="932688" lvl="2" indent="-457200">
              <a:buFont typeface="Wingdings" panose="05000000000000000000" pitchFamily="2" charset="2"/>
              <a:buChar char="§"/>
            </a:pPr>
            <a:endParaRPr lang="en-IN" dirty="0">
              <a:latin typeface="Verdana" panose="020B0604030504040204" pitchFamily="34" charset="0"/>
              <a:ea typeface="Verdana" panose="020B0604030504040204" pitchFamily="34" charset="0"/>
            </a:endParaRPr>
          </a:p>
          <a:p>
            <a:pPr marL="932688" lvl="2" indent="-457200">
              <a:buFont typeface="Wingdings" panose="05000000000000000000" pitchFamily="2" charset="2"/>
              <a:buChar char="§"/>
            </a:pPr>
            <a:r>
              <a:rPr lang="en-IN" dirty="0">
                <a:latin typeface="Verdana" panose="020B0604030504040204" pitchFamily="34" charset="0"/>
                <a:ea typeface="Verdana" panose="020B0604030504040204" pitchFamily="34" charset="0"/>
              </a:rPr>
              <a:t>Preferred choice of drinks and snacks of single customer.</a:t>
            </a:r>
          </a:p>
          <a:p>
            <a:pPr marL="932688" lvl="2" indent="-457200">
              <a:buFont typeface="Wingdings" panose="05000000000000000000" pitchFamily="2" charset="2"/>
              <a:buChar char="§"/>
            </a:pPr>
            <a:endParaRPr lang="en-IN" dirty="0">
              <a:latin typeface="Verdana" panose="020B0604030504040204" pitchFamily="34" charset="0"/>
              <a:ea typeface="Verdana" panose="020B0604030504040204" pitchFamily="34" charset="0"/>
            </a:endParaRPr>
          </a:p>
          <a:p>
            <a:pPr marL="932688" lvl="2" indent="-457200">
              <a:buFont typeface="Wingdings" panose="05000000000000000000" pitchFamily="2" charset="2"/>
              <a:buChar char="§"/>
            </a:pPr>
            <a:endParaRPr lang="en-IN" dirty="0">
              <a:latin typeface="Verdana" panose="020B0604030504040204" pitchFamily="34" charset="0"/>
              <a:ea typeface="Verdana" panose="020B0604030504040204" pitchFamily="34" charset="0"/>
            </a:endParaRPr>
          </a:p>
          <a:p>
            <a:pPr marL="932688" lvl="2" indent="-457200">
              <a:buFont typeface="Wingdings" panose="05000000000000000000" pitchFamily="2" charset="2"/>
              <a:buChar char="§"/>
            </a:pPr>
            <a:endParaRPr lang="en-IN" dirty="0">
              <a:latin typeface="Verdana" panose="020B0604030504040204" pitchFamily="34" charset="0"/>
              <a:ea typeface="Verdana" panose="020B0604030504040204" pitchFamily="34" charset="0"/>
            </a:endParaRPr>
          </a:p>
        </p:txBody>
      </p:sp>
      <p:pic>
        <p:nvPicPr>
          <p:cNvPr id="6" name="Picture 5">
            <a:extLst>
              <a:ext uri="{FF2B5EF4-FFF2-40B4-BE49-F238E27FC236}">
                <a16:creationId xmlns:a16="http://schemas.microsoft.com/office/drawing/2014/main" id="{CA7439A8-0CAC-4E1A-B4EE-C06E8BFB55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21813" y="2704065"/>
            <a:ext cx="4370187" cy="309554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6407115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4826E-4EC0-4450-BE32-8DBE51AEFEC5}"/>
              </a:ext>
            </a:extLst>
          </p:cNvPr>
          <p:cNvSpPr>
            <a:spLocks noGrp="1"/>
          </p:cNvSpPr>
          <p:nvPr>
            <p:ph type="title"/>
          </p:nvPr>
        </p:nvSpPr>
        <p:spPr>
          <a:xfrm>
            <a:off x="1097280" y="419145"/>
            <a:ext cx="10058400" cy="1139525"/>
          </a:xfrm>
        </p:spPr>
        <p:txBody>
          <a:bodyPr>
            <a:noAutofit/>
          </a:bodyPr>
          <a:lstStyle/>
          <a:p>
            <a:r>
              <a:rPr lang="en-IN" sz="4000" dirty="0">
                <a:latin typeface="Verdana" panose="020B0604030504040204" pitchFamily="34" charset="0"/>
                <a:ea typeface="Verdana" panose="020B0604030504040204" pitchFamily="34" charset="0"/>
              </a:rPr>
              <a:t>Understanding data collected from different sources</a:t>
            </a:r>
          </a:p>
        </p:txBody>
      </p:sp>
      <p:sp>
        <p:nvSpPr>
          <p:cNvPr id="3" name="Content Placeholder 2">
            <a:extLst>
              <a:ext uri="{FF2B5EF4-FFF2-40B4-BE49-F238E27FC236}">
                <a16:creationId xmlns:a16="http://schemas.microsoft.com/office/drawing/2014/main" id="{AAF0EB4D-5376-4F6C-9EFB-C1031499ABB3}"/>
              </a:ext>
            </a:extLst>
          </p:cNvPr>
          <p:cNvSpPr>
            <a:spLocks noGrp="1"/>
          </p:cNvSpPr>
          <p:nvPr>
            <p:ph idx="1"/>
          </p:nvPr>
        </p:nvSpPr>
        <p:spPr>
          <a:xfrm>
            <a:off x="1097280" y="2128192"/>
            <a:ext cx="10058400" cy="3760891"/>
          </a:xfrm>
        </p:spPr>
        <p:txBody>
          <a:bodyPr>
            <a:normAutofit/>
          </a:bodyPr>
          <a:lstStyle/>
          <a:p>
            <a:pPr marL="749808" lvl="1" indent="-457200">
              <a:buFont typeface="Wingdings" panose="05000000000000000000" pitchFamily="2" charset="2"/>
              <a:buChar char="v"/>
            </a:pPr>
            <a:r>
              <a:rPr lang="en-IN" b="1" dirty="0">
                <a:latin typeface="Verdana" panose="020B0604030504040204" pitchFamily="34" charset="0"/>
                <a:ea typeface="Verdana" panose="020B0604030504040204" pitchFamily="34" charset="0"/>
              </a:rPr>
              <a:t>Data collected through loyalty cards program –</a:t>
            </a:r>
          </a:p>
          <a:p>
            <a:pPr marL="932688" lvl="2" indent="-457200">
              <a:buFont typeface="+mj-lt"/>
              <a:buAutoNum type="arabicPeriod"/>
            </a:pPr>
            <a:endParaRPr lang="en-IN" dirty="0">
              <a:latin typeface="Verdana" panose="020B0604030504040204" pitchFamily="34" charset="0"/>
              <a:ea typeface="Verdana" panose="020B0604030504040204" pitchFamily="34" charset="0"/>
            </a:endParaRPr>
          </a:p>
          <a:p>
            <a:pPr marL="932688" lvl="2" indent="-457200">
              <a:buFont typeface="Wingdings" panose="05000000000000000000" pitchFamily="2" charset="2"/>
              <a:buChar char="§"/>
            </a:pPr>
            <a:r>
              <a:rPr lang="en-IN" dirty="0">
                <a:latin typeface="Verdana" panose="020B0604030504040204" pitchFamily="34" charset="0"/>
                <a:ea typeface="Verdana" panose="020B0604030504040204" pitchFamily="34" charset="0"/>
              </a:rPr>
              <a:t>Number of customers who opted for loyalty card and </a:t>
            </a:r>
          </a:p>
          <a:p>
            <a:pPr marL="475488" lvl="2" indent="0">
              <a:buNone/>
            </a:pPr>
            <a:r>
              <a:rPr lang="en-IN" dirty="0">
                <a:latin typeface="Verdana" panose="020B0604030504040204" pitchFamily="34" charset="0"/>
                <a:ea typeface="Verdana" panose="020B0604030504040204" pitchFamily="34" charset="0"/>
              </a:rPr>
              <a:t>	their information such as name, age, gender, email ids, </a:t>
            </a:r>
          </a:p>
          <a:p>
            <a:pPr marL="475488" lvl="2" indent="0">
              <a:buNone/>
            </a:pPr>
            <a:r>
              <a:rPr lang="en-IN" dirty="0">
                <a:latin typeface="Verdana" panose="020B0604030504040204" pitchFamily="34" charset="0"/>
                <a:ea typeface="Verdana" panose="020B0604030504040204" pitchFamily="34" charset="0"/>
              </a:rPr>
              <a:t>	address, contact info</a:t>
            </a:r>
          </a:p>
          <a:p>
            <a:pPr marL="932688" lvl="2" indent="-457200">
              <a:buFont typeface="Wingdings" panose="05000000000000000000" pitchFamily="2" charset="2"/>
              <a:buChar char="§"/>
            </a:pPr>
            <a:endParaRPr lang="en-IN" dirty="0">
              <a:latin typeface="Verdana" panose="020B0604030504040204" pitchFamily="34" charset="0"/>
              <a:ea typeface="Verdana" panose="020B0604030504040204" pitchFamily="34" charset="0"/>
            </a:endParaRPr>
          </a:p>
          <a:p>
            <a:pPr marL="932688" lvl="2" indent="-457200">
              <a:buFont typeface="Wingdings" panose="05000000000000000000" pitchFamily="2" charset="2"/>
              <a:buChar char="§"/>
            </a:pPr>
            <a:r>
              <a:rPr lang="en-IN" dirty="0">
                <a:latin typeface="Verdana" panose="020B0604030504040204" pitchFamily="34" charset="0"/>
                <a:ea typeface="Verdana" panose="020B0604030504040204" pitchFamily="34" charset="0"/>
              </a:rPr>
              <a:t>Data about usage of loyalty cards by customers at </a:t>
            </a:r>
          </a:p>
          <a:p>
            <a:pPr marL="475488" lvl="2" indent="0">
              <a:buNone/>
            </a:pPr>
            <a:r>
              <a:rPr lang="en-IN" dirty="0">
                <a:latin typeface="Verdana" panose="020B0604030504040204" pitchFamily="34" charset="0"/>
                <a:ea typeface="Verdana" panose="020B0604030504040204" pitchFamily="34" charset="0"/>
              </a:rPr>
              <a:t>	grocery shop to but Starbucks’s products,</a:t>
            </a:r>
          </a:p>
          <a:p>
            <a:pPr marL="475488" lvl="2" indent="0">
              <a:buNone/>
            </a:pPr>
            <a:r>
              <a:rPr lang="en-IN" dirty="0">
                <a:latin typeface="Verdana" panose="020B0604030504040204" pitchFamily="34" charset="0"/>
                <a:ea typeface="Verdana" panose="020B0604030504040204" pitchFamily="34" charset="0"/>
              </a:rPr>
              <a:t>	e.g. frequency of usage of cards.</a:t>
            </a:r>
          </a:p>
          <a:p>
            <a:pPr marL="932688" lvl="2" indent="-457200">
              <a:buFont typeface="Wingdings" panose="05000000000000000000" pitchFamily="2" charset="2"/>
              <a:buChar char="§"/>
            </a:pPr>
            <a:endParaRPr lang="en-IN" dirty="0">
              <a:latin typeface="Verdana" panose="020B0604030504040204" pitchFamily="34" charset="0"/>
              <a:ea typeface="Verdana" panose="020B0604030504040204" pitchFamily="34" charset="0"/>
            </a:endParaRPr>
          </a:p>
          <a:p>
            <a:pPr marL="932688" lvl="2" indent="-457200">
              <a:buFont typeface="Wingdings" panose="05000000000000000000" pitchFamily="2" charset="2"/>
              <a:buChar char="§"/>
            </a:pPr>
            <a:r>
              <a:rPr lang="en-IN" dirty="0">
                <a:latin typeface="Verdana" panose="020B0604030504040204" pitchFamily="34" charset="0"/>
                <a:ea typeface="Verdana" panose="020B0604030504040204" pitchFamily="34" charset="0"/>
              </a:rPr>
              <a:t>Based on purchasing frequency of customer at Starbucks </a:t>
            </a:r>
          </a:p>
          <a:p>
            <a:pPr marL="475488" lvl="2" indent="0">
              <a:buNone/>
            </a:pPr>
            <a:r>
              <a:rPr lang="en-IN" dirty="0">
                <a:latin typeface="Verdana" panose="020B0604030504040204" pitchFamily="34" charset="0"/>
                <a:ea typeface="Verdana" panose="020B0604030504040204" pitchFamily="34" charset="0"/>
              </a:rPr>
              <a:t>	and numbers of rewards a customer get, identifying </a:t>
            </a:r>
          </a:p>
          <a:p>
            <a:pPr marL="475488" lvl="2" indent="0">
              <a:buNone/>
            </a:pPr>
            <a:r>
              <a:rPr lang="en-IN" dirty="0">
                <a:latin typeface="Verdana" panose="020B0604030504040204" pitchFamily="34" charset="0"/>
                <a:ea typeface="Verdana" panose="020B0604030504040204" pitchFamily="34" charset="0"/>
              </a:rPr>
              <a:t>	frequent buyer of Starbucks products. </a:t>
            </a:r>
          </a:p>
          <a:p>
            <a:pPr marL="932688" lvl="2" indent="-457200">
              <a:buFont typeface="+mj-lt"/>
              <a:buAutoNum type="arabicPeriod"/>
            </a:pPr>
            <a:endParaRPr lang="en-IN" dirty="0">
              <a:latin typeface="Verdana" panose="020B0604030504040204" pitchFamily="34" charset="0"/>
              <a:ea typeface="Verdana" panose="020B0604030504040204" pitchFamily="34" charset="0"/>
            </a:endParaRPr>
          </a:p>
          <a:p>
            <a:pPr marL="932688" lvl="2" indent="-457200">
              <a:buFont typeface="Wingdings" panose="05000000000000000000" pitchFamily="2" charset="2"/>
              <a:buChar char="§"/>
            </a:pPr>
            <a:endParaRPr lang="en-IN" dirty="0">
              <a:latin typeface="Verdana" panose="020B0604030504040204" pitchFamily="34" charset="0"/>
              <a:ea typeface="Verdana" panose="020B0604030504040204" pitchFamily="34" charset="0"/>
            </a:endParaRPr>
          </a:p>
          <a:p>
            <a:pPr marL="932688" lvl="2" indent="-457200">
              <a:buFont typeface="Wingdings" panose="05000000000000000000" pitchFamily="2" charset="2"/>
              <a:buChar char="§"/>
            </a:pPr>
            <a:endParaRPr lang="en-IN" dirty="0">
              <a:latin typeface="Verdana" panose="020B0604030504040204" pitchFamily="34" charset="0"/>
              <a:ea typeface="Verdana" panose="020B0604030504040204" pitchFamily="34" charset="0"/>
            </a:endParaRPr>
          </a:p>
        </p:txBody>
      </p:sp>
      <p:pic>
        <p:nvPicPr>
          <p:cNvPr id="4098" name="Picture 2" descr="Designing a Successful Customer Loyalty Program Like Starbucks in 2020 -  Custom Mobile | Web App Development | Vancouver | Toronto">
            <a:extLst>
              <a:ext uri="{FF2B5EF4-FFF2-40B4-BE49-F238E27FC236}">
                <a16:creationId xmlns:a16="http://schemas.microsoft.com/office/drawing/2014/main" id="{B06C8617-7B1F-4E3F-AD1C-86B56B234E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50779" y="2769606"/>
            <a:ext cx="4445816" cy="266246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82205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4826E-4EC0-4450-BE32-8DBE51AEFEC5}"/>
              </a:ext>
            </a:extLst>
          </p:cNvPr>
          <p:cNvSpPr>
            <a:spLocks noGrp="1"/>
          </p:cNvSpPr>
          <p:nvPr>
            <p:ph type="title"/>
          </p:nvPr>
        </p:nvSpPr>
        <p:spPr>
          <a:xfrm>
            <a:off x="1097280" y="419145"/>
            <a:ext cx="10058400" cy="1139525"/>
          </a:xfrm>
        </p:spPr>
        <p:txBody>
          <a:bodyPr>
            <a:noAutofit/>
          </a:bodyPr>
          <a:lstStyle/>
          <a:p>
            <a:r>
              <a:rPr lang="en-IN" sz="4000" dirty="0">
                <a:latin typeface="Verdana" panose="020B0604030504040204" pitchFamily="34" charset="0"/>
                <a:ea typeface="Verdana" panose="020B0604030504040204" pitchFamily="34" charset="0"/>
              </a:rPr>
              <a:t>Understanding data collected from different sources</a:t>
            </a:r>
          </a:p>
        </p:txBody>
      </p:sp>
      <p:sp>
        <p:nvSpPr>
          <p:cNvPr id="3" name="Content Placeholder 2">
            <a:extLst>
              <a:ext uri="{FF2B5EF4-FFF2-40B4-BE49-F238E27FC236}">
                <a16:creationId xmlns:a16="http://schemas.microsoft.com/office/drawing/2014/main" id="{AAF0EB4D-5376-4F6C-9EFB-C1031499ABB3}"/>
              </a:ext>
            </a:extLst>
          </p:cNvPr>
          <p:cNvSpPr>
            <a:spLocks noGrp="1"/>
          </p:cNvSpPr>
          <p:nvPr>
            <p:ph idx="1"/>
          </p:nvPr>
        </p:nvSpPr>
        <p:spPr>
          <a:xfrm>
            <a:off x="1097280" y="2128192"/>
            <a:ext cx="10058400" cy="3760891"/>
          </a:xfrm>
        </p:spPr>
        <p:txBody>
          <a:bodyPr>
            <a:normAutofit fontScale="77500" lnSpcReduction="20000"/>
          </a:bodyPr>
          <a:lstStyle/>
          <a:p>
            <a:pPr marL="749808" lvl="1" indent="-457200">
              <a:buFont typeface="Wingdings" panose="05000000000000000000" pitchFamily="2" charset="2"/>
              <a:buChar char="v"/>
            </a:pPr>
            <a:r>
              <a:rPr lang="en-IN" b="1" dirty="0">
                <a:latin typeface="Verdana" panose="020B0604030504040204" pitchFamily="34" charset="0"/>
                <a:ea typeface="Verdana" panose="020B0604030504040204" pitchFamily="34" charset="0"/>
              </a:rPr>
              <a:t>Data collected from customer market research –</a:t>
            </a:r>
          </a:p>
          <a:p>
            <a:pPr marL="932688" lvl="2" indent="-457200">
              <a:buFont typeface="+mj-lt"/>
              <a:buAutoNum type="arabicPeriod"/>
            </a:pPr>
            <a:endParaRPr lang="en-IN" dirty="0">
              <a:latin typeface="Verdana" panose="020B0604030504040204" pitchFamily="34" charset="0"/>
              <a:ea typeface="Verdana" panose="020B0604030504040204" pitchFamily="34" charset="0"/>
            </a:endParaRPr>
          </a:p>
          <a:p>
            <a:pPr marL="932688" lvl="2" indent="-457200">
              <a:buFont typeface="Wingdings" panose="05000000000000000000" pitchFamily="2" charset="2"/>
              <a:buChar char="§"/>
            </a:pPr>
            <a:r>
              <a:rPr lang="en-IN" dirty="0">
                <a:latin typeface="Verdana" panose="020B0604030504040204" pitchFamily="34" charset="0"/>
                <a:ea typeface="Verdana" panose="020B0604030504040204" pitchFamily="34" charset="0"/>
              </a:rPr>
              <a:t>Data collected through cultural trends, analysing </a:t>
            </a:r>
          </a:p>
          <a:p>
            <a:pPr marL="475488" lvl="2" indent="0">
              <a:buNone/>
            </a:pPr>
            <a:r>
              <a:rPr lang="en-IN" dirty="0">
                <a:latin typeface="Verdana" panose="020B0604030504040204" pitchFamily="34" charset="0"/>
                <a:ea typeface="Verdana" panose="020B0604030504040204" pitchFamily="34" charset="0"/>
              </a:rPr>
              <a:t>	social media platforms, consumer feedback</a:t>
            </a:r>
          </a:p>
          <a:p>
            <a:pPr marL="932688" lvl="2" indent="-457200">
              <a:buFont typeface="Wingdings" panose="05000000000000000000" pitchFamily="2" charset="2"/>
              <a:buChar char="§"/>
            </a:pPr>
            <a:endParaRPr lang="en-IN" dirty="0">
              <a:latin typeface="Verdana" panose="020B0604030504040204" pitchFamily="34" charset="0"/>
              <a:ea typeface="Verdana" panose="020B0604030504040204" pitchFamily="34" charset="0"/>
            </a:endParaRPr>
          </a:p>
          <a:p>
            <a:pPr marL="932688" lvl="2" indent="-457200">
              <a:buFont typeface="Wingdings" panose="05000000000000000000" pitchFamily="2" charset="2"/>
              <a:buChar char="§"/>
            </a:pPr>
            <a:r>
              <a:rPr lang="en-IN" dirty="0">
                <a:latin typeface="Verdana" panose="020B0604030504040204" pitchFamily="34" charset="0"/>
                <a:ea typeface="Verdana" panose="020B0604030504040204" pitchFamily="34" charset="0"/>
              </a:rPr>
              <a:t>Starbucks launched “My Starbucks Idea Platform” </a:t>
            </a:r>
          </a:p>
          <a:p>
            <a:pPr marL="475488" lvl="2" indent="0">
              <a:buNone/>
            </a:pPr>
            <a:r>
              <a:rPr lang="en-IN" dirty="0">
                <a:latin typeface="Verdana" panose="020B0604030504040204" pitchFamily="34" charset="0"/>
                <a:ea typeface="Verdana" panose="020B0604030504040204" pitchFamily="34" charset="0"/>
              </a:rPr>
              <a:t>	to enable their employees to provide feedback according to</a:t>
            </a:r>
          </a:p>
          <a:p>
            <a:pPr marL="475488" lvl="2" indent="0">
              <a:buNone/>
            </a:pPr>
            <a:r>
              <a:rPr lang="en-IN" dirty="0">
                <a:latin typeface="Verdana" panose="020B0604030504040204" pitchFamily="34" charset="0"/>
                <a:ea typeface="Verdana" panose="020B0604030504040204" pitchFamily="34" charset="0"/>
              </a:rPr>
              <a:t>	customers purchasing patterns, e.g. idea for new products </a:t>
            </a:r>
          </a:p>
          <a:p>
            <a:pPr marL="475488" lvl="2" indent="0">
              <a:buNone/>
            </a:pPr>
            <a:r>
              <a:rPr lang="en-IN" dirty="0">
                <a:latin typeface="Verdana" panose="020B0604030504040204" pitchFamily="34" charset="0"/>
                <a:ea typeface="Verdana" panose="020B0604030504040204" pitchFamily="34" charset="0"/>
              </a:rPr>
              <a:t>	at Starbucks, request to bring back old products based on </a:t>
            </a:r>
          </a:p>
          <a:p>
            <a:pPr marL="475488" lvl="2" indent="0">
              <a:buNone/>
            </a:pPr>
            <a:r>
              <a:rPr lang="en-IN" dirty="0">
                <a:latin typeface="Verdana" panose="020B0604030504040204" pitchFamily="34" charset="0"/>
                <a:ea typeface="Verdana" panose="020B0604030504040204" pitchFamily="34" charset="0"/>
              </a:rPr>
              <a:t>	change in customer's purchasing trends.</a:t>
            </a:r>
          </a:p>
          <a:p>
            <a:pPr marL="932688" lvl="2" indent="-457200">
              <a:buFont typeface="Wingdings" panose="05000000000000000000" pitchFamily="2" charset="2"/>
              <a:buChar char="§"/>
            </a:pPr>
            <a:endParaRPr lang="en-IN" dirty="0">
              <a:latin typeface="Verdana" panose="020B0604030504040204" pitchFamily="34" charset="0"/>
              <a:ea typeface="Verdana" panose="020B0604030504040204" pitchFamily="34" charset="0"/>
            </a:endParaRPr>
          </a:p>
          <a:p>
            <a:pPr marL="932688" lvl="2" indent="-457200">
              <a:buFont typeface="Wingdings" panose="05000000000000000000" pitchFamily="2" charset="2"/>
              <a:buChar char="§"/>
            </a:pPr>
            <a:r>
              <a:rPr lang="en-IN" dirty="0">
                <a:latin typeface="Verdana" panose="020B0604030504040204" pitchFamily="34" charset="0"/>
                <a:ea typeface="Verdana" panose="020B0604030504040204" pitchFamily="34" charset="0"/>
              </a:rPr>
              <a:t>Feedbacks received through different social media such </a:t>
            </a:r>
          </a:p>
          <a:p>
            <a:pPr marL="475488" lvl="2" indent="0">
              <a:buNone/>
            </a:pPr>
            <a:r>
              <a:rPr lang="en-IN" dirty="0">
                <a:latin typeface="Verdana" panose="020B0604030504040204" pitchFamily="34" charset="0"/>
                <a:ea typeface="Verdana" panose="020B0604030504040204" pitchFamily="34" charset="0"/>
              </a:rPr>
              <a:t>	as Facebook, Instagram about Starbucks offerings.</a:t>
            </a:r>
          </a:p>
          <a:p>
            <a:pPr marL="932688" lvl="2" indent="-457200">
              <a:buFont typeface="Wingdings" panose="05000000000000000000" pitchFamily="2" charset="2"/>
              <a:buChar char="§"/>
            </a:pPr>
            <a:endParaRPr lang="en-IN" dirty="0">
              <a:latin typeface="Verdana" panose="020B0604030504040204" pitchFamily="34" charset="0"/>
              <a:ea typeface="Verdana" panose="020B0604030504040204" pitchFamily="34" charset="0"/>
            </a:endParaRPr>
          </a:p>
          <a:p>
            <a:pPr marL="932688" lvl="2" indent="-457200">
              <a:buFont typeface="Wingdings" panose="05000000000000000000" pitchFamily="2" charset="2"/>
              <a:buChar char="§"/>
            </a:pPr>
            <a:r>
              <a:rPr lang="en-IN" dirty="0">
                <a:latin typeface="Verdana" panose="020B0604030504040204" pitchFamily="34" charset="0"/>
                <a:ea typeface="Verdana" panose="020B0604030504040204" pitchFamily="34" charset="0"/>
              </a:rPr>
              <a:t>Data collected through different surveys conducted by </a:t>
            </a:r>
          </a:p>
          <a:p>
            <a:pPr marL="475488" lvl="2" indent="0">
              <a:buNone/>
            </a:pPr>
            <a:r>
              <a:rPr lang="en-IN" dirty="0">
                <a:latin typeface="Verdana" panose="020B0604030504040204" pitchFamily="34" charset="0"/>
                <a:ea typeface="Verdana" panose="020B0604030504040204" pitchFamily="34" charset="0"/>
              </a:rPr>
              <a:t>	Starbucks, e.g. preferred time of a day to drink coffee, the most </a:t>
            </a:r>
          </a:p>
          <a:p>
            <a:pPr marL="475488" lvl="2" indent="0">
              <a:buNone/>
            </a:pPr>
            <a:r>
              <a:rPr lang="en-IN" dirty="0">
                <a:latin typeface="Verdana" panose="020B0604030504040204" pitchFamily="34" charset="0"/>
                <a:ea typeface="Verdana" panose="020B0604030504040204" pitchFamily="34" charset="0"/>
              </a:rPr>
              <a:t>	preferred coffee in particular locations, feedback on use of types </a:t>
            </a:r>
          </a:p>
          <a:p>
            <a:pPr marL="475488" lvl="2" indent="0">
              <a:buNone/>
            </a:pPr>
            <a:r>
              <a:rPr lang="en-IN" dirty="0">
                <a:latin typeface="Verdana" panose="020B0604030504040204" pitchFamily="34" charset="0"/>
                <a:ea typeface="Verdana" panose="020B0604030504040204" pitchFamily="34" charset="0"/>
              </a:rPr>
              <a:t>	milks or other ingredients by  Starbucks</a:t>
            </a:r>
          </a:p>
          <a:p>
            <a:pPr marL="932688" lvl="2" indent="-457200">
              <a:buFont typeface="+mj-lt"/>
              <a:buAutoNum type="arabicPeriod"/>
            </a:pPr>
            <a:endParaRPr lang="en-IN" dirty="0">
              <a:latin typeface="Verdana" panose="020B0604030504040204" pitchFamily="34" charset="0"/>
              <a:ea typeface="Verdana" panose="020B0604030504040204" pitchFamily="34" charset="0"/>
            </a:endParaRPr>
          </a:p>
          <a:p>
            <a:pPr marL="932688" lvl="2" indent="-457200">
              <a:buFont typeface="+mj-lt"/>
              <a:buAutoNum type="arabicPeriod"/>
            </a:pPr>
            <a:endParaRPr lang="en-IN" dirty="0">
              <a:latin typeface="Verdana" panose="020B0604030504040204" pitchFamily="34" charset="0"/>
              <a:ea typeface="Verdana" panose="020B0604030504040204" pitchFamily="34" charset="0"/>
            </a:endParaRPr>
          </a:p>
          <a:p>
            <a:pPr marL="932688" lvl="2" indent="-457200">
              <a:buFont typeface="+mj-lt"/>
              <a:buAutoNum type="arabicPeriod"/>
            </a:pPr>
            <a:endParaRPr lang="en-IN" dirty="0">
              <a:latin typeface="Verdana" panose="020B0604030504040204" pitchFamily="34" charset="0"/>
              <a:ea typeface="Verdana" panose="020B0604030504040204" pitchFamily="34" charset="0"/>
            </a:endParaRPr>
          </a:p>
          <a:p>
            <a:pPr marL="932688" lvl="2" indent="-457200">
              <a:buFont typeface="+mj-lt"/>
              <a:buAutoNum type="arabicPeriod"/>
            </a:pPr>
            <a:endParaRPr lang="en-IN" dirty="0">
              <a:latin typeface="Verdana" panose="020B0604030504040204" pitchFamily="34" charset="0"/>
              <a:ea typeface="Verdana" panose="020B0604030504040204" pitchFamily="34" charset="0"/>
            </a:endParaRPr>
          </a:p>
          <a:p>
            <a:pPr marL="932688" lvl="2" indent="-457200">
              <a:buFont typeface="Wingdings" panose="05000000000000000000" pitchFamily="2" charset="2"/>
              <a:buChar char="§"/>
            </a:pPr>
            <a:endParaRPr lang="en-IN" dirty="0">
              <a:latin typeface="Verdana" panose="020B0604030504040204" pitchFamily="34" charset="0"/>
              <a:ea typeface="Verdana" panose="020B0604030504040204" pitchFamily="34" charset="0"/>
            </a:endParaRPr>
          </a:p>
          <a:p>
            <a:pPr marL="932688" lvl="2" indent="-457200">
              <a:buFont typeface="Wingdings" panose="05000000000000000000" pitchFamily="2" charset="2"/>
              <a:buChar char="§"/>
            </a:pPr>
            <a:endParaRPr lang="en-IN" dirty="0">
              <a:latin typeface="Verdana" panose="020B0604030504040204" pitchFamily="34" charset="0"/>
              <a:ea typeface="Verdana" panose="020B0604030504040204" pitchFamily="34" charset="0"/>
            </a:endParaRPr>
          </a:p>
        </p:txBody>
      </p:sp>
      <p:pic>
        <p:nvPicPr>
          <p:cNvPr id="6" name="Picture 5">
            <a:extLst>
              <a:ext uri="{FF2B5EF4-FFF2-40B4-BE49-F238E27FC236}">
                <a16:creationId xmlns:a16="http://schemas.microsoft.com/office/drawing/2014/main" id="{A89C1A00-3186-4661-A1B0-6F35852E2F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41639" y="2617365"/>
            <a:ext cx="4907079" cy="2570850"/>
          </a:xfrm>
          <a:prstGeom prst="rect">
            <a:avLst/>
          </a:prstGeom>
        </p:spPr>
      </p:pic>
    </p:spTree>
    <p:extLst>
      <p:ext uri="{BB962C8B-B14F-4D97-AF65-F5344CB8AC3E}">
        <p14:creationId xmlns:p14="http://schemas.microsoft.com/office/powerpoint/2010/main" val="128084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4826E-4EC0-4450-BE32-8DBE51AEFEC5}"/>
              </a:ext>
            </a:extLst>
          </p:cNvPr>
          <p:cNvSpPr>
            <a:spLocks noGrp="1"/>
          </p:cNvSpPr>
          <p:nvPr>
            <p:ph type="title"/>
          </p:nvPr>
        </p:nvSpPr>
        <p:spPr>
          <a:xfrm>
            <a:off x="1097280" y="419145"/>
            <a:ext cx="10058400" cy="1139525"/>
          </a:xfrm>
        </p:spPr>
        <p:txBody>
          <a:bodyPr>
            <a:noAutofit/>
          </a:bodyPr>
          <a:lstStyle/>
          <a:p>
            <a:r>
              <a:rPr lang="en-IN" sz="4000" dirty="0">
                <a:latin typeface="Verdana" panose="020B0604030504040204" pitchFamily="34" charset="0"/>
                <a:ea typeface="Verdana" panose="020B0604030504040204" pitchFamily="34" charset="0"/>
              </a:rPr>
              <a:t>Understanding data collected from different sources</a:t>
            </a:r>
          </a:p>
        </p:txBody>
      </p:sp>
      <p:sp>
        <p:nvSpPr>
          <p:cNvPr id="3" name="Content Placeholder 2">
            <a:extLst>
              <a:ext uri="{FF2B5EF4-FFF2-40B4-BE49-F238E27FC236}">
                <a16:creationId xmlns:a16="http://schemas.microsoft.com/office/drawing/2014/main" id="{AAF0EB4D-5376-4F6C-9EFB-C1031499ABB3}"/>
              </a:ext>
            </a:extLst>
          </p:cNvPr>
          <p:cNvSpPr>
            <a:spLocks noGrp="1"/>
          </p:cNvSpPr>
          <p:nvPr>
            <p:ph idx="1"/>
          </p:nvPr>
        </p:nvSpPr>
        <p:spPr>
          <a:xfrm>
            <a:off x="1097280" y="2128192"/>
            <a:ext cx="10058400" cy="3760891"/>
          </a:xfrm>
        </p:spPr>
        <p:txBody>
          <a:bodyPr>
            <a:normAutofit/>
          </a:bodyPr>
          <a:lstStyle/>
          <a:p>
            <a:pPr marL="749808" lvl="1" indent="-457200">
              <a:buFont typeface="Wingdings" panose="05000000000000000000" pitchFamily="2" charset="2"/>
              <a:buChar char="v"/>
            </a:pPr>
            <a:r>
              <a:rPr lang="en-IN" b="1" dirty="0">
                <a:latin typeface="Verdana" panose="020B0604030504040204" pitchFamily="34" charset="0"/>
                <a:ea typeface="Verdana" panose="020B0604030504040204" pitchFamily="34" charset="0"/>
              </a:rPr>
              <a:t>Demographic data – </a:t>
            </a:r>
          </a:p>
          <a:p>
            <a:pPr marL="932688" lvl="2" indent="-457200">
              <a:buFont typeface="+mj-lt"/>
              <a:buAutoNum type="arabicPeriod"/>
            </a:pPr>
            <a:endParaRPr lang="en-IN" dirty="0">
              <a:latin typeface="Verdana" panose="020B0604030504040204" pitchFamily="34" charset="0"/>
              <a:ea typeface="Verdana" panose="020B0604030504040204" pitchFamily="34" charset="0"/>
            </a:endParaRPr>
          </a:p>
          <a:p>
            <a:pPr marL="932688" lvl="2" indent="-457200">
              <a:buFont typeface="Wingdings" panose="05000000000000000000" pitchFamily="2" charset="2"/>
              <a:buChar char="§"/>
            </a:pPr>
            <a:r>
              <a:rPr lang="en-IN" dirty="0">
                <a:latin typeface="Verdana" panose="020B0604030504040204" pitchFamily="34" charset="0"/>
                <a:ea typeface="Verdana" panose="020B0604030504040204" pitchFamily="34" charset="0"/>
              </a:rPr>
              <a:t>Data about locations in which current Starbucks store is operating, e.g. weather conditions, number of public holidays and special promotional data during that period.</a:t>
            </a:r>
          </a:p>
          <a:p>
            <a:pPr marL="932688" lvl="2" indent="-457200">
              <a:buFont typeface="Wingdings" panose="05000000000000000000" pitchFamily="2" charset="2"/>
              <a:buChar char="§"/>
            </a:pPr>
            <a:endParaRPr lang="en-IN" dirty="0">
              <a:latin typeface="Verdana" panose="020B0604030504040204" pitchFamily="34" charset="0"/>
              <a:ea typeface="Verdana" panose="020B0604030504040204" pitchFamily="34" charset="0"/>
            </a:endParaRPr>
          </a:p>
          <a:p>
            <a:pPr marL="932688" lvl="2" indent="-457200">
              <a:buFont typeface="Wingdings" panose="05000000000000000000" pitchFamily="2" charset="2"/>
              <a:buChar char="§"/>
            </a:pPr>
            <a:r>
              <a:rPr lang="en-IN" dirty="0">
                <a:latin typeface="Verdana" panose="020B0604030504040204" pitchFamily="34" charset="0"/>
                <a:ea typeface="Verdana" panose="020B0604030504040204" pitchFamily="34" charset="0"/>
              </a:rPr>
              <a:t>Data associated with people of particular locations, e.g. average income, age groups, gender ratio, population of location</a:t>
            </a:r>
          </a:p>
          <a:p>
            <a:pPr marL="932688" lvl="2" indent="-457200">
              <a:buFont typeface="Wingdings" panose="05000000000000000000" pitchFamily="2" charset="2"/>
              <a:buChar char="§"/>
            </a:pPr>
            <a:endParaRPr lang="en-IN" dirty="0">
              <a:latin typeface="Verdana" panose="020B0604030504040204" pitchFamily="34" charset="0"/>
              <a:ea typeface="Verdana" panose="020B0604030504040204" pitchFamily="34" charset="0"/>
            </a:endParaRPr>
          </a:p>
          <a:p>
            <a:pPr marL="932688" lvl="2" indent="-457200">
              <a:buFont typeface="Wingdings" panose="05000000000000000000" pitchFamily="2" charset="2"/>
              <a:buChar char="§"/>
            </a:pPr>
            <a:r>
              <a:rPr lang="en-IN" dirty="0">
                <a:latin typeface="Verdana" panose="020B0604030504040204" pitchFamily="34" charset="0"/>
                <a:ea typeface="Verdana" panose="020B0604030504040204" pitchFamily="34" charset="0"/>
              </a:rPr>
              <a:t>Other data such as number of corporate offices in given area and buying habits of corporate people at Starbucks.</a:t>
            </a:r>
          </a:p>
          <a:p>
            <a:pPr marL="932688" lvl="2" indent="-457200">
              <a:buFont typeface="Wingdings" panose="05000000000000000000" pitchFamily="2" charset="2"/>
              <a:buChar char="§"/>
            </a:pPr>
            <a:endParaRPr lang="en-IN" dirty="0">
              <a:latin typeface="Verdana" panose="020B0604030504040204" pitchFamily="34" charset="0"/>
              <a:ea typeface="Verdana" panose="020B0604030504040204" pitchFamily="34" charset="0"/>
            </a:endParaRPr>
          </a:p>
          <a:p>
            <a:pPr marL="932688" lvl="2" indent="-457200">
              <a:buFont typeface="Wingdings" panose="05000000000000000000" pitchFamily="2" charset="2"/>
              <a:buChar char="§"/>
            </a:pPr>
            <a:r>
              <a:rPr lang="en-IN" dirty="0">
                <a:latin typeface="Verdana" panose="020B0604030504040204" pitchFamily="34" charset="0"/>
                <a:ea typeface="Verdana" panose="020B0604030504040204" pitchFamily="34" charset="0"/>
              </a:rPr>
              <a:t>Number of Starbucks stores in a particular area.</a:t>
            </a:r>
          </a:p>
          <a:p>
            <a:pPr marL="932688" lvl="2" indent="-457200">
              <a:buFont typeface="+mj-lt"/>
              <a:buAutoNum type="arabicPeriod"/>
            </a:pPr>
            <a:endParaRPr lang="en-IN" dirty="0">
              <a:latin typeface="Verdana" panose="020B0604030504040204" pitchFamily="34" charset="0"/>
              <a:ea typeface="Verdana" panose="020B0604030504040204" pitchFamily="34" charset="0"/>
            </a:endParaRPr>
          </a:p>
          <a:p>
            <a:pPr marL="932688" lvl="2" indent="-457200">
              <a:buFont typeface="+mj-lt"/>
              <a:buAutoNum type="arabicPeriod"/>
            </a:pPr>
            <a:endParaRPr lang="en-IN" dirty="0">
              <a:latin typeface="Verdana" panose="020B0604030504040204" pitchFamily="34" charset="0"/>
              <a:ea typeface="Verdana" panose="020B0604030504040204" pitchFamily="34" charset="0"/>
            </a:endParaRPr>
          </a:p>
          <a:p>
            <a:pPr marL="932688" lvl="2" indent="-457200">
              <a:buFont typeface="+mj-lt"/>
              <a:buAutoNum type="arabicPeriod"/>
            </a:pPr>
            <a:endParaRPr lang="en-IN" dirty="0">
              <a:latin typeface="Verdana" panose="020B0604030504040204" pitchFamily="34" charset="0"/>
              <a:ea typeface="Verdana" panose="020B0604030504040204" pitchFamily="34" charset="0"/>
            </a:endParaRPr>
          </a:p>
          <a:p>
            <a:pPr marL="932688" lvl="2" indent="-457200">
              <a:buFont typeface="+mj-lt"/>
              <a:buAutoNum type="arabicPeriod"/>
            </a:pPr>
            <a:endParaRPr lang="en-IN" dirty="0">
              <a:latin typeface="Verdana" panose="020B0604030504040204" pitchFamily="34" charset="0"/>
              <a:ea typeface="Verdana" panose="020B0604030504040204" pitchFamily="34" charset="0"/>
            </a:endParaRPr>
          </a:p>
          <a:p>
            <a:pPr marL="932688" lvl="2" indent="-457200">
              <a:buFont typeface="+mj-lt"/>
              <a:buAutoNum type="arabicPeriod"/>
            </a:pPr>
            <a:endParaRPr lang="en-IN" dirty="0">
              <a:latin typeface="Verdana" panose="020B0604030504040204" pitchFamily="34" charset="0"/>
              <a:ea typeface="Verdana" panose="020B0604030504040204" pitchFamily="34" charset="0"/>
            </a:endParaRPr>
          </a:p>
          <a:p>
            <a:pPr marL="932688" lvl="2" indent="-457200">
              <a:buFont typeface="+mj-lt"/>
              <a:buAutoNum type="arabicPeriod"/>
            </a:pPr>
            <a:endParaRPr lang="en-IN" dirty="0">
              <a:latin typeface="Verdana" panose="020B0604030504040204" pitchFamily="34" charset="0"/>
              <a:ea typeface="Verdana" panose="020B0604030504040204" pitchFamily="34" charset="0"/>
            </a:endParaRPr>
          </a:p>
          <a:p>
            <a:pPr marL="932688" lvl="2" indent="-457200">
              <a:buFont typeface="+mj-lt"/>
              <a:buAutoNum type="arabicPeriod"/>
            </a:pPr>
            <a:endParaRPr lang="en-IN" dirty="0">
              <a:latin typeface="Verdana" panose="020B0604030504040204" pitchFamily="34" charset="0"/>
              <a:ea typeface="Verdana" panose="020B0604030504040204" pitchFamily="34" charset="0"/>
            </a:endParaRPr>
          </a:p>
          <a:p>
            <a:pPr marL="932688" lvl="2" indent="-457200">
              <a:buFont typeface="Wingdings" panose="05000000000000000000" pitchFamily="2" charset="2"/>
              <a:buChar char="§"/>
            </a:pPr>
            <a:endParaRPr lang="en-IN" dirty="0">
              <a:latin typeface="Verdana" panose="020B0604030504040204" pitchFamily="34" charset="0"/>
              <a:ea typeface="Verdana" panose="020B0604030504040204" pitchFamily="34" charset="0"/>
            </a:endParaRPr>
          </a:p>
          <a:p>
            <a:pPr marL="932688" lvl="2" indent="-457200">
              <a:buFont typeface="Wingdings" panose="05000000000000000000" pitchFamily="2" charset="2"/>
              <a:buChar char="§"/>
            </a:pPr>
            <a:endParaRPr lang="en-IN"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5804332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5FA73-E21A-4E8F-93A6-DA8C53202658}"/>
              </a:ext>
            </a:extLst>
          </p:cNvPr>
          <p:cNvSpPr>
            <a:spLocks noGrp="1"/>
          </p:cNvSpPr>
          <p:nvPr>
            <p:ph type="title"/>
          </p:nvPr>
        </p:nvSpPr>
        <p:spPr>
          <a:xfrm>
            <a:off x="1097280" y="286603"/>
            <a:ext cx="10058400" cy="1105969"/>
          </a:xfrm>
        </p:spPr>
        <p:txBody>
          <a:bodyPr>
            <a:normAutofit fontScale="90000"/>
          </a:bodyPr>
          <a:lstStyle/>
          <a:p>
            <a:r>
              <a:rPr lang="en-IN" dirty="0">
                <a:latin typeface="Verdana" panose="020B0604030504040204" pitchFamily="34" charset="0"/>
                <a:ea typeface="Verdana" panose="020B0604030504040204" pitchFamily="34" charset="0"/>
              </a:rPr>
              <a:t>Areas to be focused on for Marketing</a:t>
            </a:r>
          </a:p>
        </p:txBody>
      </p:sp>
      <p:sp>
        <p:nvSpPr>
          <p:cNvPr id="3" name="Content Placeholder 2">
            <a:extLst>
              <a:ext uri="{FF2B5EF4-FFF2-40B4-BE49-F238E27FC236}">
                <a16:creationId xmlns:a16="http://schemas.microsoft.com/office/drawing/2014/main" id="{DC527D34-CAC8-4C27-A50D-97F87035D7BC}"/>
              </a:ext>
            </a:extLst>
          </p:cNvPr>
          <p:cNvSpPr>
            <a:spLocks noGrp="1"/>
          </p:cNvSpPr>
          <p:nvPr>
            <p:ph idx="1"/>
          </p:nvPr>
        </p:nvSpPr>
        <p:spPr>
          <a:xfrm>
            <a:off x="1097280" y="2124979"/>
            <a:ext cx="10058400" cy="3760891"/>
          </a:xfrm>
        </p:spPr>
        <p:txBody>
          <a:bodyPr/>
          <a:lstStyle/>
          <a:p>
            <a:r>
              <a:rPr lang="en-IN" dirty="0">
                <a:latin typeface="Verdana" panose="020B0604030504040204" pitchFamily="34" charset="0"/>
                <a:ea typeface="Verdana" panose="020B0604030504040204" pitchFamily="34" charset="0"/>
              </a:rPr>
              <a:t>Based on available big data collected from different sources by Starbucks, below are the main areas where marketing strategy can be derived to boost business.</a:t>
            </a:r>
          </a:p>
          <a:p>
            <a:endParaRPr lang="en-IN" dirty="0"/>
          </a:p>
          <a:p>
            <a:pPr marL="1298448" lvl="4" indent="-457200">
              <a:buFont typeface="+mj-lt"/>
              <a:buAutoNum type="arabicPeriod"/>
            </a:pPr>
            <a:r>
              <a:rPr lang="en-IN" sz="1500" dirty="0">
                <a:latin typeface="Verdana" panose="020B0604030504040204" pitchFamily="34" charset="0"/>
                <a:ea typeface="Verdana" panose="020B0604030504040204" pitchFamily="34" charset="0"/>
              </a:rPr>
              <a:t>Personalized customer experience at Starbucks</a:t>
            </a:r>
          </a:p>
          <a:p>
            <a:pPr marL="1298448" lvl="4" indent="-457200">
              <a:buFont typeface="+mj-lt"/>
              <a:buAutoNum type="arabicPeriod"/>
            </a:pPr>
            <a:endParaRPr lang="en-IN" sz="1500" dirty="0">
              <a:latin typeface="Verdana" panose="020B0604030504040204" pitchFamily="34" charset="0"/>
              <a:ea typeface="Verdana" panose="020B0604030504040204" pitchFamily="34" charset="0"/>
            </a:endParaRPr>
          </a:p>
          <a:p>
            <a:pPr marL="1298448" lvl="4" indent="-457200">
              <a:buFont typeface="+mj-lt"/>
              <a:buAutoNum type="arabicPeriod"/>
            </a:pPr>
            <a:r>
              <a:rPr lang="en-IN" sz="1500" dirty="0">
                <a:latin typeface="Verdana" panose="020B0604030504040204" pitchFamily="34" charset="0"/>
                <a:ea typeface="Verdana" panose="020B0604030504040204" pitchFamily="34" charset="0"/>
              </a:rPr>
              <a:t>Optimizing menu design and various offerings at Starbucks</a:t>
            </a:r>
          </a:p>
          <a:p>
            <a:pPr marL="1298448" lvl="4" indent="-457200">
              <a:buFont typeface="+mj-lt"/>
              <a:buAutoNum type="arabicPeriod"/>
            </a:pPr>
            <a:endParaRPr lang="en-IN" sz="1500" dirty="0">
              <a:latin typeface="Verdana" panose="020B0604030504040204" pitchFamily="34" charset="0"/>
              <a:ea typeface="Verdana" panose="020B0604030504040204" pitchFamily="34" charset="0"/>
            </a:endParaRPr>
          </a:p>
          <a:p>
            <a:pPr marL="1298448" lvl="4" indent="-457200">
              <a:buFont typeface="+mj-lt"/>
              <a:buAutoNum type="arabicPeriod"/>
            </a:pPr>
            <a:r>
              <a:rPr lang="en-IN" sz="1500" dirty="0">
                <a:latin typeface="Verdana" panose="020B0604030504040204" pitchFamily="34" charset="0"/>
                <a:ea typeface="Verdana" panose="020B0604030504040204" pitchFamily="34" charset="0"/>
              </a:rPr>
              <a:t>Determining new locations of Starbucks stores</a:t>
            </a:r>
          </a:p>
          <a:p>
            <a:pPr marL="1298448" lvl="4" indent="-457200">
              <a:buFont typeface="+mj-lt"/>
              <a:buAutoNum type="arabicPeriod"/>
            </a:pPr>
            <a:endParaRPr lang="en-IN" sz="1500" dirty="0">
              <a:latin typeface="Verdana" panose="020B0604030504040204" pitchFamily="34" charset="0"/>
              <a:ea typeface="Verdana" panose="020B0604030504040204" pitchFamily="34" charset="0"/>
            </a:endParaRPr>
          </a:p>
          <a:p>
            <a:pPr marL="1298448" lvl="4" indent="-457200">
              <a:buFont typeface="+mj-lt"/>
              <a:buAutoNum type="arabicPeriod"/>
            </a:pPr>
            <a:r>
              <a:rPr lang="en-IN" sz="1500" dirty="0">
                <a:latin typeface="Verdana" panose="020B0604030504040204" pitchFamily="34" charset="0"/>
                <a:ea typeface="Verdana" panose="020B0604030504040204" pitchFamily="34" charset="0"/>
              </a:rPr>
              <a:t>Supply chain management</a:t>
            </a:r>
          </a:p>
        </p:txBody>
      </p:sp>
    </p:spTree>
    <p:extLst>
      <p:ext uri="{BB962C8B-B14F-4D97-AF65-F5344CB8AC3E}">
        <p14:creationId xmlns:p14="http://schemas.microsoft.com/office/powerpoint/2010/main" val="12766653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5FA73-E21A-4E8F-93A6-DA8C53202658}"/>
              </a:ext>
            </a:extLst>
          </p:cNvPr>
          <p:cNvSpPr>
            <a:spLocks noGrp="1"/>
          </p:cNvSpPr>
          <p:nvPr>
            <p:ph type="title"/>
          </p:nvPr>
        </p:nvSpPr>
        <p:spPr>
          <a:xfrm>
            <a:off x="1097280" y="286603"/>
            <a:ext cx="10058400" cy="1105969"/>
          </a:xfrm>
        </p:spPr>
        <p:txBody>
          <a:bodyPr>
            <a:normAutofit fontScale="90000"/>
          </a:bodyPr>
          <a:lstStyle/>
          <a:p>
            <a:r>
              <a:rPr lang="en-IN" dirty="0">
                <a:latin typeface="Verdana" panose="020B0604030504040204" pitchFamily="34" charset="0"/>
                <a:ea typeface="Verdana" panose="020B0604030504040204" pitchFamily="34" charset="0"/>
              </a:rPr>
              <a:t>Areas to be focused on for Marketing</a:t>
            </a:r>
          </a:p>
        </p:txBody>
      </p:sp>
      <p:sp>
        <p:nvSpPr>
          <p:cNvPr id="3" name="Content Placeholder 2">
            <a:extLst>
              <a:ext uri="{FF2B5EF4-FFF2-40B4-BE49-F238E27FC236}">
                <a16:creationId xmlns:a16="http://schemas.microsoft.com/office/drawing/2014/main" id="{DC527D34-CAC8-4C27-A50D-97F87035D7BC}"/>
              </a:ext>
            </a:extLst>
          </p:cNvPr>
          <p:cNvSpPr>
            <a:spLocks noGrp="1"/>
          </p:cNvSpPr>
          <p:nvPr>
            <p:ph idx="1"/>
          </p:nvPr>
        </p:nvSpPr>
        <p:spPr/>
        <p:txBody>
          <a:bodyPr/>
          <a:lstStyle/>
          <a:p>
            <a:pPr>
              <a:buFont typeface="Wingdings" panose="05000000000000000000" pitchFamily="2" charset="2"/>
              <a:buChar char="v"/>
            </a:pPr>
            <a:r>
              <a:rPr lang="en-IN" sz="1500" b="1" dirty="0">
                <a:latin typeface="Verdana" panose="020B0604030504040204" pitchFamily="34" charset="0"/>
                <a:ea typeface="Verdana" panose="020B0604030504040204" pitchFamily="34" charset="0"/>
              </a:rPr>
              <a:t> Personalized customer experience at Starbucks –</a:t>
            </a:r>
          </a:p>
          <a:p>
            <a:pPr marL="635508" lvl="1" indent="-342900">
              <a:buFont typeface="+mj-lt"/>
              <a:buAutoNum type="arabicPeriod"/>
            </a:pPr>
            <a:endParaRPr lang="en-IN" sz="1300" dirty="0">
              <a:latin typeface="Verdana" panose="020B0604030504040204" pitchFamily="34" charset="0"/>
              <a:ea typeface="Verdana" panose="020B0604030504040204" pitchFamily="34" charset="0"/>
            </a:endParaRPr>
          </a:p>
          <a:p>
            <a:pPr marL="635508" lvl="1" indent="-342900">
              <a:buFont typeface="Wingdings" panose="05000000000000000000" pitchFamily="2" charset="2"/>
              <a:buChar char="§"/>
            </a:pPr>
            <a:r>
              <a:rPr lang="en-US" sz="1300" dirty="0">
                <a:latin typeface="Verdana" panose="020B0604030504040204" pitchFamily="34" charset="0"/>
                <a:ea typeface="Verdana" panose="020B0604030504040204" pitchFamily="34" charset="0"/>
              </a:rPr>
              <a:t>Based on the user's current location, preferred timing of a day to order, purchasing history, different offerings can be offered to various customers.</a:t>
            </a:r>
          </a:p>
          <a:p>
            <a:pPr marL="292608" lvl="1" indent="0">
              <a:buNone/>
            </a:pPr>
            <a:endParaRPr lang="en-IN" sz="1300" dirty="0">
              <a:latin typeface="Verdana" panose="020B0604030504040204" pitchFamily="34" charset="0"/>
              <a:ea typeface="Verdana" panose="020B0604030504040204" pitchFamily="34" charset="0"/>
            </a:endParaRPr>
          </a:p>
          <a:p>
            <a:pPr marL="635508" lvl="1" indent="-342900">
              <a:buFont typeface="Wingdings" panose="05000000000000000000" pitchFamily="2" charset="2"/>
              <a:buChar char="§"/>
            </a:pPr>
            <a:r>
              <a:rPr lang="en-US" sz="1300" dirty="0">
                <a:latin typeface="Verdana" panose="020B0604030504040204" pitchFamily="34" charset="0"/>
                <a:ea typeface="Verdana" panose="020B0604030504040204" pitchFamily="34" charset="0"/>
              </a:rPr>
              <a:t>Based on previous purchasing trends, the new product can be shown to customers which have been not tried out by the consumer</a:t>
            </a:r>
            <a:r>
              <a:rPr lang="en-IN" sz="1300" dirty="0">
                <a:latin typeface="Verdana" panose="020B0604030504040204" pitchFamily="34" charset="0"/>
                <a:ea typeface="Verdana" panose="020B0604030504040204" pitchFamily="34" charset="0"/>
              </a:rPr>
              <a:t>.</a:t>
            </a:r>
          </a:p>
          <a:p>
            <a:pPr marL="635508" lvl="1" indent="-342900">
              <a:buFont typeface="Wingdings" panose="05000000000000000000" pitchFamily="2" charset="2"/>
              <a:buChar char="§"/>
            </a:pPr>
            <a:endParaRPr lang="en-IN" sz="1300" dirty="0">
              <a:latin typeface="Verdana" panose="020B0604030504040204" pitchFamily="34" charset="0"/>
              <a:ea typeface="Verdana" panose="020B0604030504040204" pitchFamily="34" charset="0"/>
            </a:endParaRPr>
          </a:p>
          <a:p>
            <a:pPr marL="635508" lvl="1" indent="-342900">
              <a:buFont typeface="Wingdings" panose="05000000000000000000" pitchFamily="2" charset="2"/>
              <a:buChar char="§"/>
            </a:pPr>
            <a:r>
              <a:rPr lang="en-IN" sz="1300" dirty="0">
                <a:latin typeface="Verdana" panose="020B0604030504040204" pitchFamily="34" charset="0"/>
                <a:ea typeface="Verdana" panose="020B0604030504040204" pitchFamily="34" charset="0"/>
              </a:rPr>
              <a:t>Based on particular dietary patterns of consumers, personalized beverages and foods can be offered to such consumers.</a:t>
            </a:r>
          </a:p>
          <a:p>
            <a:pPr marL="635508" lvl="1" indent="-342900">
              <a:buFont typeface="Wingdings" panose="05000000000000000000" pitchFamily="2" charset="2"/>
              <a:buChar char="§"/>
            </a:pPr>
            <a:endParaRPr lang="en-IN" sz="1300" dirty="0">
              <a:latin typeface="Verdana" panose="020B0604030504040204" pitchFamily="34" charset="0"/>
              <a:ea typeface="Verdana" panose="020B0604030504040204" pitchFamily="34" charset="0"/>
            </a:endParaRPr>
          </a:p>
          <a:p>
            <a:pPr marL="635508" lvl="1" indent="-342900">
              <a:buFont typeface="Wingdings" panose="05000000000000000000" pitchFamily="2" charset="2"/>
              <a:buChar char="§"/>
            </a:pPr>
            <a:r>
              <a:rPr lang="en-IN" sz="1300" dirty="0">
                <a:latin typeface="Verdana" panose="020B0604030504040204" pitchFamily="34" charset="0"/>
                <a:ea typeface="Verdana" panose="020B0604030504040204" pitchFamily="34" charset="0"/>
              </a:rPr>
              <a:t>Using customers more preferred time of day for purchasing, different bonuses and loyalty points can be given to consumers to attract more customers.</a:t>
            </a:r>
          </a:p>
          <a:p>
            <a:pPr marL="635508" lvl="1" indent="-342900">
              <a:buFont typeface="+mj-lt"/>
              <a:buAutoNum type="arabicPeriod"/>
            </a:pPr>
            <a:endParaRPr lang="en-IN" sz="1300" dirty="0">
              <a:latin typeface="Verdana" panose="020B0604030504040204" pitchFamily="34" charset="0"/>
              <a:ea typeface="Verdana" panose="020B0604030504040204" pitchFamily="34" charset="0"/>
            </a:endParaRPr>
          </a:p>
          <a:p>
            <a:pPr marL="635508" lvl="1" indent="-342900">
              <a:buFont typeface="+mj-lt"/>
              <a:buAutoNum type="arabicPeriod"/>
            </a:pPr>
            <a:endParaRPr lang="en-IN" sz="13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5150644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5FA73-E21A-4E8F-93A6-DA8C53202658}"/>
              </a:ext>
            </a:extLst>
          </p:cNvPr>
          <p:cNvSpPr>
            <a:spLocks noGrp="1"/>
          </p:cNvSpPr>
          <p:nvPr>
            <p:ph type="title"/>
          </p:nvPr>
        </p:nvSpPr>
        <p:spPr>
          <a:xfrm>
            <a:off x="1097280" y="286603"/>
            <a:ext cx="10058400" cy="1105969"/>
          </a:xfrm>
        </p:spPr>
        <p:txBody>
          <a:bodyPr>
            <a:normAutofit fontScale="90000"/>
          </a:bodyPr>
          <a:lstStyle/>
          <a:p>
            <a:r>
              <a:rPr lang="en-IN" dirty="0">
                <a:latin typeface="Verdana" panose="020B0604030504040204" pitchFamily="34" charset="0"/>
                <a:ea typeface="Verdana" panose="020B0604030504040204" pitchFamily="34" charset="0"/>
              </a:rPr>
              <a:t>Areas to be focused on for Marketing</a:t>
            </a:r>
          </a:p>
        </p:txBody>
      </p:sp>
      <p:sp>
        <p:nvSpPr>
          <p:cNvPr id="3" name="Content Placeholder 2">
            <a:extLst>
              <a:ext uri="{FF2B5EF4-FFF2-40B4-BE49-F238E27FC236}">
                <a16:creationId xmlns:a16="http://schemas.microsoft.com/office/drawing/2014/main" id="{DC527D34-CAC8-4C27-A50D-97F87035D7BC}"/>
              </a:ext>
            </a:extLst>
          </p:cNvPr>
          <p:cNvSpPr>
            <a:spLocks noGrp="1"/>
          </p:cNvSpPr>
          <p:nvPr>
            <p:ph idx="1"/>
          </p:nvPr>
        </p:nvSpPr>
        <p:spPr/>
        <p:txBody>
          <a:bodyPr>
            <a:normAutofit/>
          </a:bodyPr>
          <a:lstStyle/>
          <a:p>
            <a:pPr>
              <a:buFont typeface="Wingdings" panose="05000000000000000000" pitchFamily="2" charset="2"/>
              <a:buChar char="v"/>
            </a:pPr>
            <a:r>
              <a:rPr lang="en-IN" sz="1500" b="1" dirty="0">
                <a:latin typeface="Verdana" panose="020B0604030504040204" pitchFamily="34" charset="0"/>
                <a:ea typeface="Verdana" panose="020B0604030504040204" pitchFamily="34" charset="0"/>
              </a:rPr>
              <a:t> Optimizing menu design and various offerings at Starbucks –</a:t>
            </a:r>
          </a:p>
          <a:p>
            <a:pPr marL="635508" lvl="1" indent="-342900">
              <a:buFont typeface="+mj-lt"/>
              <a:buAutoNum type="arabicPeriod"/>
            </a:pPr>
            <a:endParaRPr lang="en-IN" sz="1300" dirty="0">
              <a:latin typeface="Verdana" panose="020B0604030504040204" pitchFamily="34" charset="0"/>
              <a:ea typeface="Verdana" panose="020B0604030504040204" pitchFamily="34" charset="0"/>
            </a:endParaRPr>
          </a:p>
          <a:p>
            <a:pPr marL="635508" lvl="1" indent="-342900">
              <a:buFont typeface="Wingdings" panose="05000000000000000000" pitchFamily="2" charset="2"/>
              <a:buChar char="§"/>
            </a:pPr>
            <a:r>
              <a:rPr lang="en-IN" sz="1300" dirty="0">
                <a:latin typeface="Verdana" panose="020B0604030504040204" pitchFamily="34" charset="0"/>
                <a:ea typeface="Verdana" panose="020B0604030504040204" pitchFamily="34" charset="0"/>
              </a:rPr>
              <a:t>Based on customers purchasing trends, new menu can be introduced for consumers.</a:t>
            </a:r>
          </a:p>
          <a:p>
            <a:pPr marL="635508" lvl="1" indent="-342900">
              <a:buFont typeface="Wingdings" panose="05000000000000000000" pitchFamily="2" charset="2"/>
              <a:buChar char="§"/>
            </a:pPr>
            <a:endParaRPr lang="en-IN" sz="1300" dirty="0">
              <a:latin typeface="Verdana" panose="020B0604030504040204" pitchFamily="34" charset="0"/>
              <a:ea typeface="Verdana" panose="020B0604030504040204" pitchFamily="34" charset="0"/>
            </a:endParaRPr>
          </a:p>
          <a:p>
            <a:pPr marL="635508" lvl="1" indent="-342900">
              <a:buFont typeface="Wingdings" panose="05000000000000000000" pitchFamily="2" charset="2"/>
              <a:buChar char="§"/>
            </a:pPr>
            <a:r>
              <a:rPr lang="en-IN" sz="1300" dirty="0">
                <a:latin typeface="Verdana" panose="020B0604030504040204" pitchFamily="34" charset="0"/>
                <a:ea typeface="Verdana" panose="020B0604030504040204" pitchFamily="34" charset="0"/>
              </a:rPr>
              <a:t>Based on geographic locations of store and various aspects of particular locations such as weather, population density, preferred choices towards particular coffee or food, continuous upgradations to menu can be done in order to attract more customers.</a:t>
            </a:r>
          </a:p>
          <a:p>
            <a:pPr marL="635508" lvl="1" indent="-342900">
              <a:buFont typeface="Wingdings" panose="05000000000000000000" pitchFamily="2" charset="2"/>
              <a:buChar char="§"/>
            </a:pPr>
            <a:endParaRPr lang="en-IN" sz="1300" dirty="0">
              <a:latin typeface="Verdana" panose="020B0604030504040204" pitchFamily="34" charset="0"/>
              <a:ea typeface="Verdana" panose="020B0604030504040204" pitchFamily="34" charset="0"/>
            </a:endParaRPr>
          </a:p>
          <a:p>
            <a:pPr marL="635508" lvl="1" indent="-342900">
              <a:buFont typeface="Wingdings" panose="05000000000000000000" pitchFamily="2" charset="2"/>
              <a:buChar char="§"/>
            </a:pPr>
            <a:r>
              <a:rPr lang="en-IN" sz="1300" dirty="0">
                <a:latin typeface="Verdana" panose="020B0604030504040204" pitchFamily="34" charset="0"/>
                <a:ea typeface="Verdana" panose="020B0604030504040204" pitchFamily="34" charset="0"/>
              </a:rPr>
              <a:t>Along with beverages and foods, different aspects of store such as ambience, size of cups can be regularly updated to boost business.</a:t>
            </a:r>
          </a:p>
          <a:p>
            <a:pPr marL="635508" lvl="1" indent="-342900">
              <a:buFont typeface="+mj-lt"/>
              <a:buAutoNum type="arabicPeriod"/>
            </a:pPr>
            <a:endParaRPr lang="en-IN" sz="13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761844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5FA73-E21A-4E8F-93A6-DA8C53202658}"/>
              </a:ext>
            </a:extLst>
          </p:cNvPr>
          <p:cNvSpPr>
            <a:spLocks noGrp="1"/>
          </p:cNvSpPr>
          <p:nvPr>
            <p:ph type="title"/>
          </p:nvPr>
        </p:nvSpPr>
        <p:spPr>
          <a:xfrm>
            <a:off x="1097280" y="286603"/>
            <a:ext cx="10058400" cy="1105969"/>
          </a:xfrm>
        </p:spPr>
        <p:txBody>
          <a:bodyPr>
            <a:normAutofit fontScale="90000"/>
          </a:bodyPr>
          <a:lstStyle/>
          <a:p>
            <a:r>
              <a:rPr lang="en-IN" dirty="0">
                <a:latin typeface="Verdana" panose="020B0604030504040204" pitchFamily="34" charset="0"/>
                <a:ea typeface="Verdana" panose="020B0604030504040204" pitchFamily="34" charset="0"/>
              </a:rPr>
              <a:t>Areas to be focused on for Marketing</a:t>
            </a:r>
          </a:p>
        </p:txBody>
      </p:sp>
      <p:sp>
        <p:nvSpPr>
          <p:cNvPr id="3" name="Content Placeholder 2">
            <a:extLst>
              <a:ext uri="{FF2B5EF4-FFF2-40B4-BE49-F238E27FC236}">
                <a16:creationId xmlns:a16="http://schemas.microsoft.com/office/drawing/2014/main" id="{DC527D34-CAC8-4C27-A50D-97F87035D7BC}"/>
              </a:ext>
            </a:extLst>
          </p:cNvPr>
          <p:cNvSpPr>
            <a:spLocks noGrp="1"/>
          </p:cNvSpPr>
          <p:nvPr>
            <p:ph idx="1"/>
          </p:nvPr>
        </p:nvSpPr>
        <p:spPr/>
        <p:txBody>
          <a:bodyPr>
            <a:normAutofit/>
          </a:bodyPr>
          <a:lstStyle/>
          <a:p>
            <a:pPr>
              <a:buFont typeface="Wingdings" panose="05000000000000000000" pitchFamily="2" charset="2"/>
              <a:buChar char="v"/>
            </a:pPr>
            <a:r>
              <a:rPr lang="en-IN" sz="1500" b="1" dirty="0">
                <a:latin typeface="Verdana" panose="020B0604030504040204" pitchFamily="34" charset="0"/>
                <a:ea typeface="Verdana" panose="020B0604030504040204" pitchFamily="34" charset="0"/>
              </a:rPr>
              <a:t> Determining new locations of Starbucks stores –</a:t>
            </a:r>
            <a:endParaRPr lang="en-IN" sz="1300" b="1" dirty="0">
              <a:latin typeface="Verdana" panose="020B0604030504040204" pitchFamily="34" charset="0"/>
              <a:ea typeface="Verdana" panose="020B0604030504040204" pitchFamily="34" charset="0"/>
            </a:endParaRPr>
          </a:p>
          <a:p>
            <a:pPr lvl="1">
              <a:buFont typeface="Wingdings" panose="05000000000000000000" pitchFamily="2" charset="2"/>
              <a:buChar char="v"/>
            </a:pPr>
            <a:endParaRPr lang="en-IN" sz="1300" b="1" dirty="0">
              <a:latin typeface="Verdana" panose="020B0604030504040204" pitchFamily="34" charset="0"/>
              <a:ea typeface="Verdana" panose="020B0604030504040204" pitchFamily="34" charset="0"/>
            </a:endParaRPr>
          </a:p>
          <a:p>
            <a:pPr lvl="1">
              <a:buFont typeface="Wingdings" panose="05000000000000000000" pitchFamily="2" charset="2"/>
              <a:buChar char="§"/>
            </a:pPr>
            <a:r>
              <a:rPr lang="en-IN" sz="1300" dirty="0">
                <a:latin typeface="Verdana" panose="020B0604030504040204" pitchFamily="34" charset="0"/>
                <a:ea typeface="Verdana" panose="020B0604030504040204" pitchFamily="34" charset="0"/>
              </a:rPr>
              <a:t>Using demographic as well geographical data, location of new store can be determined.</a:t>
            </a:r>
          </a:p>
          <a:p>
            <a:pPr lvl="1">
              <a:buFont typeface="Wingdings" panose="05000000000000000000" pitchFamily="2" charset="2"/>
              <a:buChar char="§"/>
            </a:pPr>
            <a:endParaRPr lang="en-IN" sz="1300" dirty="0">
              <a:latin typeface="Verdana" panose="020B0604030504040204" pitchFamily="34" charset="0"/>
              <a:ea typeface="Verdana" panose="020B0604030504040204" pitchFamily="34" charset="0"/>
            </a:endParaRPr>
          </a:p>
          <a:p>
            <a:pPr lvl="1">
              <a:buFont typeface="Wingdings" panose="05000000000000000000" pitchFamily="2" charset="2"/>
              <a:buChar char="§"/>
            </a:pPr>
            <a:r>
              <a:rPr lang="en-IN" sz="1300" dirty="0">
                <a:latin typeface="Verdana" panose="020B0604030504040204" pitchFamily="34" charset="0"/>
                <a:ea typeface="Verdana" panose="020B0604030504040204" pitchFamily="34" charset="0"/>
              </a:rPr>
              <a:t>Various factors such as population density, prices of lands, weather, holiday seasons, traffic information, other near by stores including competitor's stores, profitability of new location can be predicted.</a:t>
            </a:r>
          </a:p>
          <a:p>
            <a:pPr lvl="1">
              <a:buFont typeface="Wingdings" panose="05000000000000000000" pitchFamily="2" charset="2"/>
              <a:buChar char="§"/>
            </a:pPr>
            <a:endParaRPr lang="en-IN" sz="1300" dirty="0">
              <a:latin typeface="Verdana" panose="020B0604030504040204" pitchFamily="34" charset="0"/>
              <a:ea typeface="Verdana" panose="020B0604030504040204" pitchFamily="34" charset="0"/>
            </a:endParaRPr>
          </a:p>
          <a:p>
            <a:pPr lvl="1">
              <a:buFont typeface="Wingdings" panose="05000000000000000000" pitchFamily="2" charset="2"/>
              <a:buChar char="§"/>
            </a:pPr>
            <a:r>
              <a:rPr lang="en-IN" sz="1300" dirty="0">
                <a:latin typeface="Verdana" panose="020B0604030504040204" pitchFamily="34" charset="0"/>
                <a:ea typeface="Verdana" panose="020B0604030504040204" pitchFamily="34" charset="0"/>
              </a:rPr>
              <a:t>Once the location is fixed and store is open to serve customer, continuous upgradation of store design can be performed to attract people from different age group as well as people from different cultures.</a:t>
            </a:r>
          </a:p>
        </p:txBody>
      </p:sp>
    </p:spTree>
    <p:extLst>
      <p:ext uri="{BB962C8B-B14F-4D97-AF65-F5344CB8AC3E}">
        <p14:creationId xmlns:p14="http://schemas.microsoft.com/office/powerpoint/2010/main" val="29262154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5FA73-E21A-4E8F-93A6-DA8C53202658}"/>
              </a:ext>
            </a:extLst>
          </p:cNvPr>
          <p:cNvSpPr>
            <a:spLocks noGrp="1"/>
          </p:cNvSpPr>
          <p:nvPr>
            <p:ph type="title"/>
          </p:nvPr>
        </p:nvSpPr>
        <p:spPr>
          <a:xfrm>
            <a:off x="1097280" y="286603"/>
            <a:ext cx="10058400" cy="1105969"/>
          </a:xfrm>
        </p:spPr>
        <p:txBody>
          <a:bodyPr>
            <a:normAutofit fontScale="90000"/>
          </a:bodyPr>
          <a:lstStyle/>
          <a:p>
            <a:r>
              <a:rPr lang="en-IN" dirty="0">
                <a:latin typeface="Verdana" panose="020B0604030504040204" pitchFamily="34" charset="0"/>
                <a:ea typeface="Verdana" panose="020B0604030504040204" pitchFamily="34" charset="0"/>
              </a:rPr>
              <a:t>Areas to be focused on for Marketing</a:t>
            </a:r>
          </a:p>
        </p:txBody>
      </p:sp>
      <p:sp>
        <p:nvSpPr>
          <p:cNvPr id="3" name="Content Placeholder 2">
            <a:extLst>
              <a:ext uri="{FF2B5EF4-FFF2-40B4-BE49-F238E27FC236}">
                <a16:creationId xmlns:a16="http://schemas.microsoft.com/office/drawing/2014/main" id="{DC527D34-CAC8-4C27-A50D-97F87035D7BC}"/>
              </a:ext>
            </a:extLst>
          </p:cNvPr>
          <p:cNvSpPr>
            <a:spLocks noGrp="1"/>
          </p:cNvSpPr>
          <p:nvPr>
            <p:ph idx="1"/>
          </p:nvPr>
        </p:nvSpPr>
        <p:spPr/>
        <p:txBody>
          <a:bodyPr>
            <a:normAutofit/>
          </a:bodyPr>
          <a:lstStyle/>
          <a:p>
            <a:pPr>
              <a:buFont typeface="Wingdings" panose="05000000000000000000" pitchFamily="2" charset="2"/>
              <a:buChar char="v"/>
            </a:pPr>
            <a:r>
              <a:rPr lang="en-IN" sz="1500" b="1" dirty="0">
                <a:latin typeface="Verdana" panose="020B0604030504040204" pitchFamily="34" charset="0"/>
                <a:ea typeface="Verdana" panose="020B0604030504040204" pitchFamily="34" charset="0"/>
              </a:rPr>
              <a:t>  Supply chain management –</a:t>
            </a:r>
            <a:endParaRPr lang="en-IN" sz="1300" b="1" dirty="0">
              <a:latin typeface="Verdana" panose="020B0604030504040204" pitchFamily="34" charset="0"/>
              <a:ea typeface="Verdana" panose="020B0604030504040204" pitchFamily="34" charset="0"/>
            </a:endParaRPr>
          </a:p>
          <a:p>
            <a:pPr lvl="1">
              <a:buFont typeface="Wingdings" panose="05000000000000000000" pitchFamily="2" charset="2"/>
              <a:buChar char="v"/>
            </a:pPr>
            <a:endParaRPr lang="en-IN" sz="1300" b="1" dirty="0">
              <a:latin typeface="Verdana" panose="020B0604030504040204" pitchFamily="34" charset="0"/>
              <a:ea typeface="Verdana" panose="020B0604030504040204" pitchFamily="34" charset="0"/>
            </a:endParaRPr>
          </a:p>
          <a:p>
            <a:pPr lvl="1">
              <a:buFont typeface="Wingdings" panose="05000000000000000000" pitchFamily="2" charset="2"/>
              <a:buChar char="§"/>
            </a:pPr>
            <a:r>
              <a:rPr lang="en-IN" sz="1300" dirty="0">
                <a:latin typeface="Verdana" panose="020B0604030504040204" pitchFamily="34" charset="0"/>
                <a:ea typeface="Verdana" panose="020B0604030504040204" pitchFamily="34" charset="0"/>
              </a:rPr>
              <a:t>Data derived from geographic as well as from consumer dataset, various goods the are used for making beverages and foods can be optimized.</a:t>
            </a:r>
          </a:p>
          <a:p>
            <a:pPr lvl="1">
              <a:buFont typeface="Wingdings" panose="05000000000000000000" pitchFamily="2" charset="2"/>
              <a:buChar char="§"/>
            </a:pPr>
            <a:endParaRPr lang="en-IN" sz="1300" dirty="0">
              <a:latin typeface="Verdana" panose="020B0604030504040204" pitchFamily="34" charset="0"/>
              <a:ea typeface="Verdana" panose="020B0604030504040204" pitchFamily="34" charset="0"/>
            </a:endParaRPr>
          </a:p>
          <a:p>
            <a:pPr lvl="1">
              <a:buFont typeface="Wingdings" panose="05000000000000000000" pitchFamily="2" charset="2"/>
              <a:buChar char="§"/>
            </a:pPr>
            <a:r>
              <a:rPr lang="en-IN" sz="1300" dirty="0">
                <a:latin typeface="Verdana" panose="020B0604030504040204" pitchFamily="34" charset="0"/>
                <a:ea typeface="Verdana" panose="020B0604030504040204" pitchFamily="34" charset="0"/>
              </a:rPr>
              <a:t>Based on the most customer’s preferred time of coffee, maintenance of machines can be performed for smooth and continuous operation of store.</a:t>
            </a:r>
          </a:p>
          <a:p>
            <a:pPr lvl="1">
              <a:buFont typeface="Wingdings" panose="05000000000000000000" pitchFamily="2" charset="2"/>
              <a:buChar char="§"/>
            </a:pPr>
            <a:endParaRPr lang="en-IN" sz="1300" dirty="0">
              <a:latin typeface="Verdana" panose="020B0604030504040204" pitchFamily="34" charset="0"/>
              <a:ea typeface="Verdana" panose="020B0604030504040204" pitchFamily="34" charset="0"/>
            </a:endParaRPr>
          </a:p>
          <a:p>
            <a:pPr lvl="1">
              <a:buFont typeface="Wingdings" panose="05000000000000000000" pitchFamily="2" charset="2"/>
              <a:buChar char="§"/>
            </a:pPr>
            <a:r>
              <a:rPr lang="en-IN" sz="1300" dirty="0">
                <a:latin typeface="Verdana" panose="020B0604030504040204" pitchFamily="34" charset="0"/>
                <a:ea typeface="Verdana" panose="020B0604030504040204" pitchFamily="34" charset="0"/>
              </a:rPr>
              <a:t>Once the location is fixed and store is open to serve customer, continuous upgradation of store design can be performed to people from different age group as well as people from different cultures.</a:t>
            </a:r>
          </a:p>
        </p:txBody>
      </p:sp>
    </p:spTree>
    <p:extLst>
      <p:ext uri="{BB962C8B-B14F-4D97-AF65-F5344CB8AC3E}">
        <p14:creationId xmlns:p14="http://schemas.microsoft.com/office/powerpoint/2010/main" val="13683255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4C2CD-AA1B-4A82-8DAF-D245AEF7EF2A}"/>
              </a:ext>
            </a:extLst>
          </p:cNvPr>
          <p:cNvSpPr>
            <a:spLocks noGrp="1"/>
          </p:cNvSpPr>
          <p:nvPr>
            <p:ph type="title"/>
          </p:nvPr>
        </p:nvSpPr>
        <p:spPr>
          <a:xfrm>
            <a:off x="1097280" y="388675"/>
            <a:ext cx="10058400" cy="1200465"/>
          </a:xfrm>
        </p:spPr>
        <p:txBody>
          <a:bodyPr>
            <a:normAutofit/>
          </a:bodyPr>
          <a:lstStyle/>
          <a:p>
            <a:r>
              <a:rPr lang="en-IN" sz="4200" dirty="0">
                <a:latin typeface="Verdana" panose="020B0604030504040204" pitchFamily="34" charset="0"/>
                <a:ea typeface="Verdana" panose="020B0604030504040204" pitchFamily="34" charset="0"/>
              </a:rPr>
              <a:t>Starbucks Stores Location Analysis </a:t>
            </a:r>
          </a:p>
        </p:txBody>
      </p:sp>
      <p:sp>
        <p:nvSpPr>
          <p:cNvPr id="3" name="Content Placeholder 2">
            <a:extLst>
              <a:ext uri="{FF2B5EF4-FFF2-40B4-BE49-F238E27FC236}">
                <a16:creationId xmlns:a16="http://schemas.microsoft.com/office/drawing/2014/main" id="{BC5D3094-28E1-4B66-8E3E-B186EFD6A532}"/>
              </a:ext>
            </a:extLst>
          </p:cNvPr>
          <p:cNvSpPr>
            <a:spLocks noGrp="1"/>
          </p:cNvSpPr>
          <p:nvPr>
            <p:ph idx="1"/>
          </p:nvPr>
        </p:nvSpPr>
        <p:spPr>
          <a:xfrm>
            <a:off x="1097280" y="2150146"/>
            <a:ext cx="10058400" cy="3760891"/>
          </a:xfrm>
        </p:spPr>
        <p:txBody>
          <a:bodyPr>
            <a:normAutofit/>
          </a:bodyPr>
          <a:lstStyle/>
          <a:p>
            <a:pPr>
              <a:buFont typeface="Wingdings" panose="05000000000000000000" pitchFamily="2" charset="2"/>
              <a:buChar char="§"/>
            </a:pPr>
            <a:r>
              <a:rPr lang="en-IN" sz="1500" dirty="0">
                <a:latin typeface="Verdana" panose="020B0604030504040204" pitchFamily="34" charset="0"/>
                <a:ea typeface="Verdana" panose="020B0604030504040204" pitchFamily="34" charset="0"/>
              </a:rPr>
              <a:t> Starbucks has stores spread across the world. Below is the snapshot from csv file which has details about Starbucks stores across the world.</a:t>
            </a:r>
          </a:p>
        </p:txBody>
      </p:sp>
      <p:pic>
        <p:nvPicPr>
          <p:cNvPr id="5" name="Picture 4">
            <a:extLst>
              <a:ext uri="{FF2B5EF4-FFF2-40B4-BE49-F238E27FC236}">
                <a16:creationId xmlns:a16="http://schemas.microsoft.com/office/drawing/2014/main" id="{EF114432-C59E-4390-A471-0DF554299123}"/>
              </a:ext>
            </a:extLst>
          </p:cNvPr>
          <p:cNvPicPr>
            <a:picLocks noChangeAspect="1"/>
          </p:cNvPicPr>
          <p:nvPr/>
        </p:nvPicPr>
        <p:blipFill>
          <a:blip r:embed="rId2"/>
          <a:stretch>
            <a:fillRect/>
          </a:stretch>
        </p:blipFill>
        <p:spPr>
          <a:xfrm>
            <a:off x="2450386" y="2785145"/>
            <a:ext cx="6478384" cy="355977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7305530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EF1E0-FC19-4C5B-9EAE-E6E80CAEDB67}"/>
              </a:ext>
            </a:extLst>
          </p:cNvPr>
          <p:cNvSpPr>
            <a:spLocks noGrp="1"/>
          </p:cNvSpPr>
          <p:nvPr>
            <p:ph type="title"/>
          </p:nvPr>
        </p:nvSpPr>
        <p:spPr>
          <a:xfrm>
            <a:off x="1097280" y="503339"/>
            <a:ext cx="10058400" cy="1124964"/>
          </a:xfrm>
        </p:spPr>
        <p:txBody>
          <a:bodyPr>
            <a:normAutofit/>
          </a:bodyPr>
          <a:lstStyle/>
          <a:p>
            <a:r>
              <a:rPr lang="en-IN" sz="4200" dirty="0">
                <a:latin typeface="Verdana" panose="020B0604030504040204" pitchFamily="34" charset="0"/>
                <a:ea typeface="Verdana" panose="020B0604030504040204" pitchFamily="34" charset="0"/>
              </a:rPr>
              <a:t>Details of columns in CSV file</a:t>
            </a:r>
          </a:p>
        </p:txBody>
      </p:sp>
      <p:sp>
        <p:nvSpPr>
          <p:cNvPr id="3" name="Content Placeholder 2">
            <a:extLst>
              <a:ext uri="{FF2B5EF4-FFF2-40B4-BE49-F238E27FC236}">
                <a16:creationId xmlns:a16="http://schemas.microsoft.com/office/drawing/2014/main" id="{4A4A368B-5301-4276-8A71-E3761D39DBAC}"/>
              </a:ext>
            </a:extLst>
          </p:cNvPr>
          <p:cNvSpPr>
            <a:spLocks noGrp="1"/>
          </p:cNvSpPr>
          <p:nvPr>
            <p:ph idx="1"/>
          </p:nvPr>
        </p:nvSpPr>
        <p:spPr/>
        <p:txBody>
          <a:bodyPr>
            <a:noAutofit/>
          </a:bodyPr>
          <a:lstStyle/>
          <a:p>
            <a:pPr>
              <a:buFont typeface="Wingdings" panose="05000000000000000000" pitchFamily="2" charset="2"/>
              <a:buChar char="§"/>
            </a:pPr>
            <a:r>
              <a:rPr lang="en-IN" sz="1200" dirty="0">
                <a:latin typeface="Verdana" panose="020B0604030504040204" pitchFamily="34" charset="0"/>
                <a:ea typeface="Verdana" panose="020B0604030504040204" pitchFamily="34" charset="0"/>
              </a:rPr>
              <a:t> </a:t>
            </a:r>
            <a:r>
              <a:rPr lang="en-IN" sz="1200" b="1" dirty="0">
                <a:latin typeface="Verdana" panose="020B0604030504040204" pitchFamily="34" charset="0"/>
                <a:ea typeface="Verdana" panose="020B0604030504040204" pitchFamily="34" charset="0"/>
              </a:rPr>
              <a:t>Brand</a:t>
            </a:r>
            <a:r>
              <a:rPr lang="en-IN" sz="1200" dirty="0">
                <a:latin typeface="Verdana" panose="020B0604030504040204" pitchFamily="34" charset="0"/>
                <a:ea typeface="Verdana" panose="020B0604030504040204" pitchFamily="34" charset="0"/>
              </a:rPr>
              <a:t> – Brand under which Starbucks operate</a:t>
            </a:r>
          </a:p>
          <a:p>
            <a:pPr>
              <a:buFont typeface="Wingdings" panose="05000000000000000000" pitchFamily="2" charset="2"/>
              <a:buChar char="§"/>
            </a:pPr>
            <a:r>
              <a:rPr lang="en-IN" sz="1200" dirty="0">
                <a:latin typeface="Verdana" panose="020B0604030504040204" pitchFamily="34" charset="0"/>
                <a:ea typeface="Verdana" panose="020B0604030504040204" pitchFamily="34" charset="0"/>
              </a:rPr>
              <a:t> </a:t>
            </a:r>
            <a:r>
              <a:rPr lang="en-IN" sz="1200" b="1" dirty="0">
                <a:latin typeface="Verdana" panose="020B0604030504040204" pitchFamily="34" charset="0"/>
                <a:ea typeface="Verdana" panose="020B0604030504040204" pitchFamily="34" charset="0"/>
              </a:rPr>
              <a:t>Store Number </a:t>
            </a:r>
            <a:r>
              <a:rPr lang="en-IN" sz="1200" dirty="0">
                <a:latin typeface="Verdana" panose="020B0604030504040204" pitchFamily="34" charset="0"/>
                <a:ea typeface="Verdana" panose="020B0604030504040204" pitchFamily="34" charset="0"/>
              </a:rPr>
              <a:t>– Number of store</a:t>
            </a:r>
          </a:p>
          <a:p>
            <a:pPr>
              <a:buFont typeface="Wingdings" panose="05000000000000000000" pitchFamily="2" charset="2"/>
              <a:buChar char="§"/>
            </a:pPr>
            <a:r>
              <a:rPr lang="en-IN" sz="1200" dirty="0">
                <a:latin typeface="Verdana" panose="020B0604030504040204" pitchFamily="34" charset="0"/>
                <a:ea typeface="Verdana" panose="020B0604030504040204" pitchFamily="34" charset="0"/>
              </a:rPr>
              <a:t> </a:t>
            </a:r>
            <a:r>
              <a:rPr lang="en-IN" sz="1200" b="1" dirty="0">
                <a:latin typeface="Verdana" panose="020B0604030504040204" pitchFamily="34" charset="0"/>
                <a:ea typeface="Verdana" panose="020B0604030504040204" pitchFamily="34" charset="0"/>
              </a:rPr>
              <a:t>Ownership Type</a:t>
            </a:r>
            <a:r>
              <a:rPr lang="en-IN" sz="1200" dirty="0">
                <a:latin typeface="Verdana" panose="020B0604030504040204" pitchFamily="34" charset="0"/>
                <a:ea typeface="Verdana" panose="020B0604030504040204" pitchFamily="34" charset="0"/>
              </a:rPr>
              <a:t> – Ownership Types  i.e. Company owned, License Based, Joint Venture</a:t>
            </a:r>
          </a:p>
          <a:p>
            <a:pPr>
              <a:buFont typeface="Wingdings" panose="05000000000000000000" pitchFamily="2" charset="2"/>
              <a:buChar char="§"/>
            </a:pPr>
            <a:r>
              <a:rPr lang="en-IN" sz="1200" dirty="0">
                <a:latin typeface="Verdana" panose="020B0604030504040204" pitchFamily="34" charset="0"/>
                <a:ea typeface="Verdana" panose="020B0604030504040204" pitchFamily="34" charset="0"/>
              </a:rPr>
              <a:t> </a:t>
            </a:r>
            <a:r>
              <a:rPr lang="en-IN" sz="1200" b="1" dirty="0">
                <a:latin typeface="Verdana" panose="020B0604030504040204" pitchFamily="34" charset="0"/>
                <a:ea typeface="Verdana" panose="020B0604030504040204" pitchFamily="34" charset="0"/>
              </a:rPr>
              <a:t>Street Address </a:t>
            </a:r>
            <a:r>
              <a:rPr lang="en-IN" sz="1200" dirty="0">
                <a:latin typeface="Verdana" panose="020B0604030504040204" pitchFamily="34" charset="0"/>
                <a:ea typeface="Verdana" panose="020B0604030504040204" pitchFamily="34" charset="0"/>
              </a:rPr>
              <a:t>– Address of the store</a:t>
            </a:r>
          </a:p>
          <a:p>
            <a:pPr>
              <a:buFont typeface="Wingdings" panose="05000000000000000000" pitchFamily="2" charset="2"/>
              <a:buChar char="§"/>
            </a:pPr>
            <a:r>
              <a:rPr lang="en-IN" sz="1200" dirty="0">
                <a:latin typeface="Verdana" panose="020B0604030504040204" pitchFamily="34" charset="0"/>
                <a:ea typeface="Verdana" panose="020B0604030504040204" pitchFamily="34" charset="0"/>
              </a:rPr>
              <a:t> </a:t>
            </a:r>
            <a:r>
              <a:rPr lang="en-IN" sz="1200" b="1" dirty="0">
                <a:latin typeface="Verdana" panose="020B0604030504040204" pitchFamily="34" charset="0"/>
                <a:ea typeface="Verdana" panose="020B0604030504040204" pitchFamily="34" charset="0"/>
              </a:rPr>
              <a:t>City</a:t>
            </a:r>
            <a:r>
              <a:rPr lang="en-IN" sz="1200" dirty="0">
                <a:latin typeface="Verdana" panose="020B0604030504040204" pitchFamily="34" charset="0"/>
                <a:ea typeface="Verdana" panose="020B0604030504040204" pitchFamily="34" charset="0"/>
              </a:rPr>
              <a:t> – City of store</a:t>
            </a:r>
          </a:p>
          <a:p>
            <a:pPr>
              <a:buFont typeface="Wingdings" panose="05000000000000000000" pitchFamily="2" charset="2"/>
              <a:buChar char="§"/>
            </a:pPr>
            <a:r>
              <a:rPr lang="en-IN" sz="1200" b="1" dirty="0">
                <a:latin typeface="Verdana" panose="020B0604030504040204" pitchFamily="34" charset="0"/>
                <a:ea typeface="Verdana" panose="020B0604030504040204" pitchFamily="34" charset="0"/>
              </a:rPr>
              <a:t> State/ Province </a:t>
            </a:r>
            <a:r>
              <a:rPr lang="en-IN" sz="1200" dirty="0">
                <a:latin typeface="Verdana" panose="020B0604030504040204" pitchFamily="34" charset="0"/>
                <a:ea typeface="Verdana" panose="020B0604030504040204" pitchFamily="34" charset="0"/>
              </a:rPr>
              <a:t>– State in which store is located</a:t>
            </a:r>
          </a:p>
          <a:p>
            <a:pPr>
              <a:buFont typeface="Wingdings" panose="05000000000000000000" pitchFamily="2" charset="2"/>
              <a:buChar char="§"/>
            </a:pPr>
            <a:r>
              <a:rPr lang="en-IN" sz="1200" dirty="0">
                <a:latin typeface="Verdana" panose="020B0604030504040204" pitchFamily="34" charset="0"/>
                <a:ea typeface="Verdana" panose="020B0604030504040204" pitchFamily="34" charset="0"/>
              </a:rPr>
              <a:t> </a:t>
            </a:r>
            <a:r>
              <a:rPr lang="en-IN" sz="1200" b="1" dirty="0">
                <a:latin typeface="Verdana" panose="020B0604030504040204" pitchFamily="34" charset="0"/>
                <a:ea typeface="Verdana" panose="020B0604030504040204" pitchFamily="34" charset="0"/>
              </a:rPr>
              <a:t>Country</a:t>
            </a:r>
            <a:r>
              <a:rPr lang="en-IN" sz="1200" dirty="0">
                <a:latin typeface="Verdana" panose="020B0604030504040204" pitchFamily="34" charset="0"/>
                <a:ea typeface="Verdana" panose="020B0604030504040204" pitchFamily="34" charset="0"/>
              </a:rPr>
              <a:t> – Country of store</a:t>
            </a:r>
          </a:p>
          <a:p>
            <a:pPr>
              <a:buFont typeface="Wingdings" panose="05000000000000000000" pitchFamily="2" charset="2"/>
              <a:buChar char="§"/>
            </a:pPr>
            <a:r>
              <a:rPr lang="en-IN" sz="1200" b="1" dirty="0">
                <a:latin typeface="Verdana" panose="020B0604030504040204" pitchFamily="34" charset="0"/>
                <a:ea typeface="Verdana" panose="020B0604030504040204" pitchFamily="34" charset="0"/>
              </a:rPr>
              <a:t> Postcode</a:t>
            </a:r>
            <a:r>
              <a:rPr lang="en-IN" sz="1200" dirty="0">
                <a:latin typeface="Verdana" panose="020B0604030504040204" pitchFamily="34" charset="0"/>
                <a:ea typeface="Verdana" panose="020B0604030504040204" pitchFamily="34" charset="0"/>
              </a:rPr>
              <a:t> – Postcode of store</a:t>
            </a:r>
          </a:p>
          <a:p>
            <a:pPr>
              <a:buFont typeface="Wingdings" panose="05000000000000000000" pitchFamily="2" charset="2"/>
              <a:buChar char="§"/>
            </a:pPr>
            <a:r>
              <a:rPr lang="en-IN" sz="1200" dirty="0">
                <a:latin typeface="Verdana" panose="020B0604030504040204" pitchFamily="34" charset="0"/>
                <a:ea typeface="Verdana" panose="020B0604030504040204" pitchFamily="34" charset="0"/>
              </a:rPr>
              <a:t> </a:t>
            </a:r>
            <a:r>
              <a:rPr lang="en-IN" sz="1200" b="1" dirty="0">
                <a:latin typeface="Verdana" panose="020B0604030504040204" pitchFamily="34" charset="0"/>
                <a:ea typeface="Verdana" panose="020B0604030504040204" pitchFamily="34" charset="0"/>
              </a:rPr>
              <a:t>Phone Number</a:t>
            </a:r>
            <a:r>
              <a:rPr lang="en-IN" sz="1200" dirty="0">
                <a:latin typeface="Verdana" panose="020B0604030504040204" pitchFamily="34" charset="0"/>
                <a:ea typeface="Verdana" panose="020B0604030504040204" pitchFamily="34" charset="0"/>
              </a:rPr>
              <a:t> – Phone number of store</a:t>
            </a:r>
          </a:p>
          <a:p>
            <a:pPr>
              <a:buFont typeface="Wingdings" panose="05000000000000000000" pitchFamily="2" charset="2"/>
              <a:buChar char="§"/>
            </a:pPr>
            <a:r>
              <a:rPr lang="en-IN" sz="1200" dirty="0">
                <a:latin typeface="Verdana" panose="020B0604030504040204" pitchFamily="34" charset="0"/>
                <a:ea typeface="Verdana" panose="020B0604030504040204" pitchFamily="34" charset="0"/>
              </a:rPr>
              <a:t> </a:t>
            </a:r>
            <a:r>
              <a:rPr lang="en-IN" sz="1200" b="1" dirty="0">
                <a:latin typeface="Verdana" panose="020B0604030504040204" pitchFamily="34" charset="0"/>
                <a:ea typeface="Verdana" panose="020B0604030504040204" pitchFamily="34" charset="0"/>
              </a:rPr>
              <a:t>Time zone </a:t>
            </a:r>
            <a:r>
              <a:rPr lang="en-IN" sz="1200" dirty="0">
                <a:latin typeface="Verdana" panose="020B0604030504040204" pitchFamily="34" charset="0"/>
                <a:ea typeface="Verdana" panose="020B0604030504040204" pitchFamily="34" charset="0"/>
              </a:rPr>
              <a:t>– Time zone under which store comes in</a:t>
            </a:r>
          </a:p>
          <a:p>
            <a:pPr>
              <a:buFont typeface="Wingdings" panose="05000000000000000000" pitchFamily="2" charset="2"/>
              <a:buChar char="§"/>
            </a:pPr>
            <a:r>
              <a:rPr lang="en-IN" sz="1200" dirty="0">
                <a:latin typeface="Verdana" panose="020B0604030504040204" pitchFamily="34" charset="0"/>
                <a:ea typeface="Verdana" panose="020B0604030504040204" pitchFamily="34" charset="0"/>
              </a:rPr>
              <a:t> </a:t>
            </a:r>
            <a:r>
              <a:rPr lang="en-IN" sz="1200" b="1" dirty="0">
                <a:latin typeface="Verdana" panose="020B0604030504040204" pitchFamily="34" charset="0"/>
                <a:ea typeface="Verdana" panose="020B0604030504040204" pitchFamily="34" charset="0"/>
              </a:rPr>
              <a:t>Longitude &amp; Latitude</a:t>
            </a:r>
            <a:r>
              <a:rPr lang="en-IN" sz="1200" dirty="0">
                <a:latin typeface="Verdana" panose="020B0604030504040204" pitchFamily="34" charset="0"/>
                <a:ea typeface="Verdana" panose="020B0604030504040204" pitchFamily="34" charset="0"/>
              </a:rPr>
              <a:t> – Longitude and Latitude of store</a:t>
            </a:r>
          </a:p>
          <a:p>
            <a:pPr>
              <a:buFont typeface="Wingdings" panose="05000000000000000000" pitchFamily="2" charset="2"/>
              <a:buChar char="§"/>
            </a:pPr>
            <a:endParaRPr lang="en-IN" sz="12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40975691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D756A-BC2C-44D8-848E-1AA4092F24E2}"/>
              </a:ext>
            </a:extLst>
          </p:cNvPr>
          <p:cNvSpPr>
            <a:spLocks noGrp="1"/>
          </p:cNvSpPr>
          <p:nvPr>
            <p:ph type="title"/>
          </p:nvPr>
        </p:nvSpPr>
        <p:spPr>
          <a:xfrm>
            <a:off x="1097280" y="419145"/>
            <a:ext cx="10058400" cy="1139525"/>
          </a:xfrm>
        </p:spPr>
        <p:txBody>
          <a:bodyPr>
            <a:normAutofit/>
          </a:bodyPr>
          <a:lstStyle/>
          <a:p>
            <a:r>
              <a:rPr lang="en-IN" sz="4200" dirty="0">
                <a:latin typeface="Verdana" panose="020B0604030504040204" pitchFamily="34" charset="0"/>
                <a:ea typeface="Verdana" panose="020B0604030504040204" pitchFamily="34" charset="0"/>
              </a:rPr>
              <a:t>Size and Information about data</a:t>
            </a:r>
          </a:p>
        </p:txBody>
      </p:sp>
      <p:sp>
        <p:nvSpPr>
          <p:cNvPr id="3" name="Content Placeholder 2">
            <a:extLst>
              <a:ext uri="{FF2B5EF4-FFF2-40B4-BE49-F238E27FC236}">
                <a16:creationId xmlns:a16="http://schemas.microsoft.com/office/drawing/2014/main" id="{1B42FE07-F18B-4446-B4AC-86A09A908B1E}"/>
              </a:ext>
            </a:extLst>
          </p:cNvPr>
          <p:cNvSpPr>
            <a:spLocks noGrp="1"/>
          </p:cNvSpPr>
          <p:nvPr>
            <p:ph idx="1"/>
          </p:nvPr>
        </p:nvSpPr>
        <p:spPr/>
        <p:txBody>
          <a:bodyPr/>
          <a:lstStyle/>
          <a:p>
            <a:r>
              <a:rPr lang="en-IN" dirty="0"/>
              <a:t>CSV file consist of total 25,600 </a:t>
            </a:r>
          </a:p>
          <a:p>
            <a:r>
              <a:rPr lang="en-IN" dirty="0"/>
              <a:t>records about each stores across </a:t>
            </a:r>
          </a:p>
          <a:p>
            <a:r>
              <a:rPr lang="en-IN" dirty="0"/>
              <a:t>the world.</a:t>
            </a:r>
          </a:p>
          <a:p>
            <a:endParaRPr lang="en-IN" dirty="0"/>
          </a:p>
          <a:p>
            <a:endParaRPr lang="en-IN" dirty="0"/>
          </a:p>
        </p:txBody>
      </p:sp>
      <p:pic>
        <p:nvPicPr>
          <p:cNvPr id="5" name="Picture 4">
            <a:extLst>
              <a:ext uri="{FF2B5EF4-FFF2-40B4-BE49-F238E27FC236}">
                <a16:creationId xmlns:a16="http://schemas.microsoft.com/office/drawing/2014/main" id="{DA6DFB7D-F03B-4E25-8B37-4ACFBCA0799A}"/>
              </a:ext>
            </a:extLst>
          </p:cNvPr>
          <p:cNvPicPr>
            <a:picLocks noChangeAspect="1"/>
          </p:cNvPicPr>
          <p:nvPr/>
        </p:nvPicPr>
        <p:blipFill>
          <a:blip r:embed="rId2"/>
          <a:stretch>
            <a:fillRect/>
          </a:stretch>
        </p:blipFill>
        <p:spPr>
          <a:xfrm>
            <a:off x="5240559" y="1979802"/>
            <a:ext cx="6368127" cy="43200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5831873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E52CF-22E1-4C19-973B-CA5D5857843F}"/>
              </a:ext>
            </a:extLst>
          </p:cNvPr>
          <p:cNvSpPr>
            <a:spLocks noGrp="1"/>
          </p:cNvSpPr>
          <p:nvPr>
            <p:ph type="title"/>
          </p:nvPr>
        </p:nvSpPr>
        <p:spPr/>
        <p:txBody>
          <a:bodyPr>
            <a:normAutofit/>
          </a:bodyPr>
          <a:lstStyle/>
          <a:p>
            <a:r>
              <a:rPr lang="en-IN" sz="4000" dirty="0">
                <a:latin typeface="Verdana" panose="020B0604030504040204" pitchFamily="34" charset="0"/>
                <a:ea typeface="Verdana" panose="020B0604030504040204" pitchFamily="34" charset="0"/>
              </a:rPr>
              <a:t>Distribution of Brands names under which Starbucks operates</a:t>
            </a:r>
          </a:p>
        </p:txBody>
      </p:sp>
      <p:sp>
        <p:nvSpPr>
          <p:cNvPr id="3" name="Content Placeholder 2">
            <a:extLst>
              <a:ext uri="{FF2B5EF4-FFF2-40B4-BE49-F238E27FC236}">
                <a16:creationId xmlns:a16="http://schemas.microsoft.com/office/drawing/2014/main" id="{18FF7B85-91EC-4D9C-826B-74DAC6537F27}"/>
              </a:ext>
            </a:extLst>
          </p:cNvPr>
          <p:cNvSpPr>
            <a:spLocks noGrp="1"/>
          </p:cNvSpPr>
          <p:nvPr>
            <p:ph idx="1"/>
          </p:nvPr>
        </p:nvSpPr>
        <p:spPr/>
        <p:txBody>
          <a:bodyPr>
            <a:normAutofit/>
          </a:bodyPr>
          <a:lstStyle/>
          <a:p>
            <a:pPr>
              <a:buFont typeface="Wingdings" panose="05000000000000000000" pitchFamily="2" charset="2"/>
              <a:buChar char="§"/>
            </a:pPr>
            <a:r>
              <a:rPr lang="en-IN" sz="1500" dirty="0">
                <a:latin typeface="Verdana" panose="020B0604030504040204" pitchFamily="34" charset="0"/>
                <a:ea typeface="Verdana" panose="020B0604030504040204" pitchFamily="34" charset="0"/>
              </a:rPr>
              <a:t> Below is distribution of Starbucks brand name </a:t>
            </a:r>
          </a:p>
          <a:p>
            <a:r>
              <a:rPr lang="en-IN" sz="1500" dirty="0">
                <a:latin typeface="Verdana" panose="020B0604030504040204" pitchFamily="34" charset="0"/>
                <a:ea typeface="Verdana" panose="020B0604030504040204" pitchFamily="34" charset="0"/>
              </a:rPr>
              <a:t>In various countries.</a:t>
            </a:r>
          </a:p>
          <a:p>
            <a:endParaRPr lang="en-IN" sz="1500" dirty="0">
              <a:latin typeface="Verdana" panose="020B0604030504040204" pitchFamily="34" charset="0"/>
              <a:ea typeface="Verdana" panose="020B0604030504040204" pitchFamily="34" charset="0"/>
            </a:endParaRPr>
          </a:p>
          <a:p>
            <a:endParaRPr lang="en-IN" sz="1500" dirty="0">
              <a:latin typeface="Verdana" panose="020B0604030504040204" pitchFamily="34" charset="0"/>
              <a:ea typeface="Verdana" panose="020B0604030504040204" pitchFamily="34" charset="0"/>
            </a:endParaRPr>
          </a:p>
          <a:p>
            <a:endParaRPr lang="en-IN" sz="1500" dirty="0">
              <a:latin typeface="Verdana" panose="020B0604030504040204" pitchFamily="34" charset="0"/>
              <a:ea typeface="Verdana" panose="020B0604030504040204" pitchFamily="34" charset="0"/>
            </a:endParaRPr>
          </a:p>
        </p:txBody>
      </p:sp>
      <p:graphicFrame>
        <p:nvGraphicFramePr>
          <p:cNvPr id="4" name="Table 4">
            <a:extLst>
              <a:ext uri="{FF2B5EF4-FFF2-40B4-BE49-F238E27FC236}">
                <a16:creationId xmlns:a16="http://schemas.microsoft.com/office/drawing/2014/main" id="{F30DBAA1-515B-4BE4-A727-49DD0652BC56}"/>
              </a:ext>
            </a:extLst>
          </p:cNvPr>
          <p:cNvGraphicFramePr>
            <a:graphicFrameLocks noGrp="1"/>
          </p:cNvGraphicFramePr>
          <p:nvPr>
            <p:extLst>
              <p:ext uri="{D42A27DB-BD31-4B8C-83A1-F6EECF244321}">
                <p14:modId xmlns:p14="http://schemas.microsoft.com/office/powerpoint/2010/main" val="1161372462"/>
              </p:ext>
            </p:extLst>
          </p:nvPr>
        </p:nvGraphicFramePr>
        <p:xfrm>
          <a:off x="1097280" y="3236363"/>
          <a:ext cx="4209410" cy="2032000"/>
        </p:xfrm>
        <a:graphic>
          <a:graphicData uri="http://schemas.openxmlformats.org/drawingml/2006/table">
            <a:tbl>
              <a:tblPr firstRow="1" bandRow="1">
                <a:tableStyleId>{5C22544A-7EE6-4342-B048-85BDC9FD1C3A}</a:tableStyleId>
              </a:tblPr>
              <a:tblGrid>
                <a:gridCol w="2104705">
                  <a:extLst>
                    <a:ext uri="{9D8B030D-6E8A-4147-A177-3AD203B41FA5}">
                      <a16:colId xmlns:a16="http://schemas.microsoft.com/office/drawing/2014/main" val="1140338933"/>
                    </a:ext>
                  </a:extLst>
                </a:gridCol>
                <a:gridCol w="2104705">
                  <a:extLst>
                    <a:ext uri="{9D8B030D-6E8A-4147-A177-3AD203B41FA5}">
                      <a16:colId xmlns:a16="http://schemas.microsoft.com/office/drawing/2014/main" val="2930691937"/>
                    </a:ext>
                  </a:extLst>
                </a:gridCol>
              </a:tblGrid>
              <a:tr h="370840">
                <a:tc>
                  <a:txBody>
                    <a:bodyPr/>
                    <a:lstStyle/>
                    <a:p>
                      <a:r>
                        <a:rPr lang="en-IN" sz="1500" dirty="0">
                          <a:latin typeface="Verdana" panose="020B0604030504040204" pitchFamily="34" charset="0"/>
                          <a:ea typeface="Verdana" panose="020B0604030504040204" pitchFamily="34" charset="0"/>
                        </a:rPr>
                        <a:t>Brand Name </a:t>
                      </a:r>
                    </a:p>
                  </a:txBody>
                  <a:tcPr/>
                </a:tc>
                <a:tc>
                  <a:txBody>
                    <a:bodyPr/>
                    <a:lstStyle/>
                    <a:p>
                      <a:r>
                        <a:rPr lang="en-IN" sz="1500" dirty="0">
                          <a:latin typeface="Verdana" panose="020B0604030504040204" pitchFamily="34" charset="0"/>
                          <a:ea typeface="Verdana" panose="020B0604030504040204" pitchFamily="34" charset="0"/>
                        </a:rPr>
                        <a:t>Counts</a:t>
                      </a:r>
                    </a:p>
                  </a:txBody>
                  <a:tcPr/>
                </a:tc>
                <a:extLst>
                  <a:ext uri="{0D108BD9-81ED-4DB2-BD59-A6C34878D82A}">
                    <a16:rowId xmlns:a16="http://schemas.microsoft.com/office/drawing/2014/main" val="3019441104"/>
                  </a:ext>
                </a:extLst>
              </a:tr>
              <a:tr h="370840">
                <a:tc>
                  <a:txBody>
                    <a:bodyPr/>
                    <a:lstStyle/>
                    <a:p>
                      <a:r>
                        <a:rPr lang="en-IN" sz="1500" dirty="0">
                          <a:latin typeface="Verdana" panose="020B0604030504040204" pitchFamily="34" charset="0"/>
                          <a:ea typeface="Verdana" panose="020B0604030504040204" pitchFamily="34" charset="0"/>
                        </a:rPr>
                        <a:t>Starbucks</a:t>
                      </a:r>
                    </a:p>
                  </a:txBody>
                  <a:tcPr/>
                </a:tc>
                <a:tc>
                  <a:txBody>
                    <a:bodyPr/>
                    <a:lstStyle/>
                    <a:p>
                      <a:r>
                        <a:rPr lang="en-IN" sz="1500" dirty="0">
                          <a:latin typeface="Verdana" panose="020B0604030504040204" pitchFamily="34" charset="0"/>
                          <a:ea typeface="Verdana" panose="020B0604030504040204" pitchFamily="34" charset="0"/>
                        </a:rPr>
                        <a:t>25249</a:t>
                      </a:r>
                    </a:p>
                  </a:txBody>
                  <a:tcPr/>
                </a:tc>
                <a:extLst>
                  <a:ext uri="{0D108BD9-81ED-4DB2-BD59-A6C34878D82A}">
                    <a16:rowId xmlns:a16="http://schemas.microsoft.com/office/drawing/2014/main" val="667899046"/>
                  </a:ext>
                </a:extLst>
              </a:tr>
              <a:tr h="370840">
                <a:tc>
                  <a:txBody>
                    <a:bodyPr/>
                    <a:lstStyle/>
                    <a:p>
                      <a:r>
                        <a:rPr lang="en-IN" sz="1500" dirty="0">
                          <a:latin typeface="Verdana" panose="020B0604030504040204" pitchFamily="34" charset="0"/>
                          <a:ea typeface="Verdana" panose="020B0604030504040204" pitchFamily="34" charset="0"/>
                        </a:rPr>
                        <a:t>Teavana</a:t>
                      </a:r>
                    </a:p>
                  </a:txBody>
                  <a:tcPr/>
                </a:tc>
                <a:tc>
                  <a:txBody>
                    <a:bodyPr/>
                    <a:lstStyle/>
                    <a:p>
                      <a:r>
                        <a:rPr lang="en-IN" sz="1500" dirty="0">
                          <a:latin typeface="Verdana" panose="020B0604030504040204" pitchFamily="34" charset="0"/>
                          <a:ea typeface="Verdana" panose="020B0604030504040204" pitchFamily="34" charset="0"/>
                        </a:rPr>
                        <a:t>348</a:t>
                      </a:r>
                    </a:p>
                  </a:txBody>
                  <a:tcPr/>
                </a:tc>
                <a:extLst>
                  <a:ext uri="{0D108BD9-81ED-4DB2-BD59-A6C34878D82A}">
                    <a16:rowId xmlns:a16="http://schemas.microsoft.com/office/drawing/2014/main" val="860187867"/>
                  </a:ext>
                </a:extLst>
              </a:tr>
              <a:tr h="370840">
                <a:tc>
                  <a:txBody>
                    <a:bodyPr/>
                    <a:lstStyle/>
                    <a:p>
                      <a:r>
                        <a:rPr lang="en-IN" sz="1500" dirty="0">
                          <a:latin typeface="Verdana" panose="020B0604030504040204" pitchFamily="34" charset="0"/>
                          <a:ea typeface="Verdana" panose="020B0604030504040204" pitchFamily="34" charset="0"/>
                        </a:rPr>
                        <a:t>Evolution Fresh</a:t>
                      </a:r>
                    </a:p>
                  </a:txBody>
                  <a:tcPr/>
                </a:tc>
                <a:tc>
                  <a:txBody>
                    <a:bodyPr/>
                    <a:lstStyle/>
                    <a:p>
                      <a:r>
                        <a:rPr lang="en-IN" sz="1500" dirty="0">
                          <a:latin typeface="Verdana" panose="020B0604030504040204" pitchFamily="34" charset="0"/>
                          <a:ea typeface="Verdana" panose="020B0604030504040204" pitchFamily="34" charset="0"/>
                        </a:rPr>
                        <a:t>2</a:t>
                      </a:r>
                    </a:p>
                  </a:txBody>
                  <a:tcPr/>
                </a:tc>
                <a:extLst>
                  <a:ext uri="{0D108BD9-81ED-4DB2-BD59-A6C34878D82A}">
                    <a16:rowId xmlns:a16="http://schemas.microsoft.com/office/drawing/2014/main" val="1042476014"/>
                  </a:ext>
                </a:extLst>
              </a:tr>
              <a:tr h="370840">
                <a:tc>
                  <a:txBody>
                    <a:bodyPr/>
                    <a:lstStyle/>
                    <a:p>
                      <a:r>
                        <a:rPr lang="en-IN" sz="1500" dirty="0">
                          <a:latin typeface="Verdana" panose="020B0604030504040204" pitchFamily="34" charset="0"/>
                          <a:ea typeface="Verdana" panose="020B0604030504040204" pitchFamily="34" charset="0"/>
                        </a:rPr>
                        <a:t>Coffee House Holding</a:t>
                      </a:r>
                    </a:p>
                  </a:txBody>
                  <a:tcPr/>
                </a:tc>
                <a:tc>
                  <a:txBody>
                    <a:bodyPr/>
                    <a:lstStyle/>
                    <a:p>
                      <a:r>
                        <a:rPr lang="en-IN" sz="1500" dirty="0">
                          <a:latin typeface="Verdana" panose="020B0604030504040204" pitchFamily="34" charset="0"/>
                          <a:ea typeface="Verdana" panose="020B0604030504040204" pitchFamily="34" charset="0"/>
                        </a:rPr>
                        <a:t>1</a:t>
                      </a:r>
                    </a:p>
                  </a:txBody>
                  <a:tcPr/>
                </a:tc>
                <a:extLst>
                  <a:ext uri="{0D108BD9-81ED-4DB2-BD59-A6C34878D82A}">
                    <a16:rowId xmlns:a16="http://schemas.microsoft.com/office/drawing/2014/main" val="842416282"/>
                  </a:ext>
                </a:extLst>
              </a:tr>
            </a:tbl>
          </a:graphicData>
        </a:graphic>
      </p:graphicFrame>
      <p:pic>
        <p:nvPicPr>
          <p:cNvPr id="6" name="Picture 5">
            <a:extLst>
              <a:ext uri="{FF2B5EF4-FFF2-40B4-BE49-F238E27FC236}">
                <a16:creationId xmlns:a16="http://schemas.microsoft.com/office/drawing/2014/main" id="{9D187529-EE16-4E2A-AA46-74E8433101ED}"/>
              </a:ext>
            </a:extLst>
          </p:cNvPr>
          <p:cNvPicPr>
            <a:picLocks noChangeAspect="1"/>
          </p:cNvPicPr>
          <p:nvPr/>
        </p:nvPicPr>
        <p:blipFill>
          <a:blip r:embed="rId2"/>
          <a:stretch>
            <a:fillRect/>
          </a:stretch>
        </p:blipFill>
        <p:spPr>
          <a:xfrm>
            <a:off x="5925117" y="1971412"/>
            <a:ext cx="5779286" cy="432551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50660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57918-9147-46CC-819F-B55F80EF5C2B}"/>
              </a:ext>
            </a:extLst>
          </p:cNvPr>
          <p:cNvSpPr>
            <a:spLocks noGrp="1"/>
          </p:cNvSpPr>
          <p:nvPr>
            <p:ph type="title"/>
          </p:nvPr>
        </p:nvSpPr>
        <p:spPr/>
        <p:txBody>
          <a:bodyPr>
            <a:normAutofit/>
          </a:bodyPr>
          <a:lstStyle/>
          <a:p>
            <a:r>
              <a:rPr lang="en-US" sz="4200" dirty="0">
                <a:latin typeface="Verdana" panose="020B0604030504040204" pitchFamily="34" charset="0"/>
                <a:ea typeface="Verdana" panose="020B0604030504040204" pitchFamily="34" charset="0"/>
              </a:rPr>
              <a:t>Top 10 counties with maximum number of coffee stores</a:t>
            </a:r>
            <a:endParaRPr lang="en-IN" sz="4200" dirty="0">
              <a:latin typeface="Verdana" panose="020B0604030504040204" pitchFamily="34" charset="0"/>
              <a:ea typeface="Verdana" panose="020B0604030504040204" pitchFamily="34" charset="0"/>
            </a:endParaRPr>
          </a:p>
        </p:txBody>
      </p:sp>
      <p:pic>
        <p:nvPicPr>
          <p:cNvPr id="5" name="Content Placeholder 4">
            <a:extLst>
              <a:ext uri="{FF2B5EF4-FFF2-40B4-BE49-F238E27FC236}">
                <a16:creationId xmlns:a16="http://schemas.microsoft.com/office/drawing/2014/main" id="{5A963D81-727E-483F-8825-90641883BCEF}"/>
              </a:ext>
            </a:extLst>
          </p:cNvPr>
          <p:cNvPicPr>
            <a:picLocks noGrp="1" noChangeAspect="1"/>
          </p:cNvPicPr>
          <p:nvPr>
            <p:ph idx="1"/>
          </p:nvPr>
        </p:nvPicPr>
        <p:blipFill>
          <a:blip r:embed="rId2"/>
          <a:stretch>
            <a:fillRect/>
          </a:stretch>
        </p:blipFill>
        <p:spPr>
          <a:xfrm>
            <a:off x="1766887" y="2286765"/>
            <a:ext cx="8658225" cy="363855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8944691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57918-9147-46CC-819F-B55F80EF5C2B}"/>
              </a:ext>
            </a:extLst>
          </p:cNvPr>
          <p:cNvSpPr>
            <a:spLocks noGrp="1"/>
          </p:cNvSpPr>
          <p:nvPr>
            <p:ph type="title"/>
          </p:nvPr>
        </p:nvSpPr>
        <p:spPr/>
        <p:txBody>
          <a:bodyPr>
            <a:normAutofit/>
          </a:bodyPr>
          <a:lstStyle/>
          <a:p>
            <a:r>
              <a:rPr lang="en-US" sz="4200" dirty="0">
                <a:latin typeface="Verdana" panose="020B0604030504040204" pitchFamily="34" charset="0"/>
                <a:ea typeface="Verdana" panose="020B0604030504040204" pitchFamily="34" charset="0"/>
              </a:rPr>
              <a:t>Distribution of coffee stores in US</a:t>
            </a:r>
            <a:endParaRPr lang="en-IN" sz="4200" dirty="0">
              <a:latin typeface="Verdana" panose="020B0604030504040204" pitchFamily="34" charset="0"/>
              <a:ea typeface="Verdana" panose="020B0604030504040204" pitchFamily="34" charset="0"/>
            </a:endParaRPr>
          </a:p>
        </p:txBody>
      </p:sp>
      <p:graphicFrame>
        <p:nvGraphicFramePr>
          <p:cNvPr id="6" name="Table 6">
            <a:extLst>
              <a:ext uri="{FF2B5EF4-FFF2-40B4-BE49-F238E27FC236}">
                <a16:creationId xmlns:a16="http://schemas.microsoft.com/office/drawing/2014/main" id="{39E7B2CC-70C4-476F-BDBB-1A4BE1759A33}"/>
              </a:ext>
            </a:extLst>
          </p:cNvPr>
          <p:cNvGraphicFramePr>
            <a:graphicFrameLocks noGrp="1"/>
          </p:cNvGraphicFramePr>
          <p:nvPr>
            <p:ph idx="1"/>
            <p:extLst>
              <p:ext uri="{D42A27DB-BD31-4B8C-83A1-F6EECF244321}">
                <p14:modId xmlns:p14="http://schemas.microsoft.com/office/powerpoint/2010/main" val="247035927"/>
              </p:ext>
            </p:extLst>
          </p:nvPr>
        </p:nvGraphicFramePr>
        <p:xfrm>
          <a:off x="1097280" y="3643385"/>
          <a:ext cx="5261892" cy="2032000"/>
        </p:xfrm>
        <a:graphic>
          <a:graphicData uri="http://schemas.openxmlformats.org/drawingml/2006/table">
            <a:tbl>
              <a:tblPr firstRow="1" bandRow="1">
                <a:tableStyleId>{5C22544A-7EE6-4342-B048-85BDC9FD1C3A}</a:tableStyleId>
              </a:tblPr>
              <a:tblGrid>
                <a:gridCol w="2630946">
                  <a:extLst>
                    <a:ext uri="{9D8B030D-6E8A-4147-A177-3AD203B41FA5}">
                      <a16:colId xmlns:a16="http://schemas.microsoft.com/office/drawing/2014/main" val="1501333704"/>
                    </a:ext>
                  </a:extLst>
                </a:gridCol>
                <a:gridCol w="2630946">
                  <a:extLst>
                    <a:ext uri="{9D8B030D-6E8A-4147-A177-3AD203B41FA5}">
                      <a16:colId xmlns:a16="http://schemas.microsoft.com/office/drawing/2014/main" val="4183566747"/>
                    </a:ext>
                  </a:extLst>
                </a:gridCol>
              </a:tblGrid>
              <a:tr h="370840">
                <a:tc>
                  <a:txBody>
                    <a:bodyPr/>
                    <a:lstStyle/>
                    <a:p>
                      <a:r>
                        <a:rPr lang="en-US" sz="1500" dirty="0">
                          <a:latin typeface="Verdana" panose="020B0604030504040204" pitchFamily="34" charset="0"/>
                          <a:ea typeface="Verdana" panose="020B0604030504040204" pitchFamily="34" charset="0"/>
                        </a:rPr>
                        <a:t>Brands</a:t>
                      </a:r>
                      <a:br>
                        <a:rPr lang="en-US" sz="1500" dirty="0">
                          <a:latin typeface="Verdana" panose="020B0604030504040204" pitchFamily="34" charset="0"/>
                          <a:ea typeface="Verdana" panose="020B0604030504040204" pitchFamily="34" charset="0"/>
                        </a:rPr>
                      </a:br>
                      <a:endParaRPr lang="en-IN" sz="1500" dirty="0">
                        <a:latin typeface="Verdana" panose="020B0604030504040204" pitchFamily="34" charset="0"/>
                        <a:ea typeface="Verdana" panose="020B0604030504040204" pitchFamily="34" charset="0"/>
                      </a:endParaRPr>
                    </a:p>
                  </a:txBody>
                  <a:tcPr/>
                </a:tc>
                <a:tc>
                  <a:txBody>
                    <a:bodyPr/>
                    <a:lstStyle/>
                    <a:p>
                      <a:r>
                        <a:rPr lang="en-IN" sz="1500" dirty="0">
                          <a:latin typeface="Verdana" panose="020B0604030504040204" pitchFamily="34" charset="0"/>
                          <a:ea typeface="Verdana" panose="020B0604030504040204" pitchFamily="34" charset="0"/>
                        </a:rPr>
                        <a:t>Count</a:t>
                      </a:r>
                    </a:p>
                  </a:txBody>
                  <a:tcPr/>
                </a:tc>
                <a:extLst>
                  <a:ext uri="{0D108BD9-81ED-4DB2-BD59-A6C34878D82A}">
                    <a16:rowId xmlns:a16="http://schemas.microsoft.com/office/drawing/2014/main" val="204493773"/>
                  </a:ext>
                </a:extLst>
              </a:tr>
              <a:tr h="370840">
                <a:tc>
                  <a:txBody>
                    <a:bodyPr/>
                    <a:lstStyle/>
                    <a:p>
                      <a:r>
                        <a:rPr lang="en-US" sz="1500" dirty="0">
                          <a:latin typeface="Verdana" panose="020B0604030504040204" pitchFamily="34" charset="0"/>
                          <a:ea typeface="Verdana" panose="020B0604030504040204" pitchFamily="34" charset="0"/>
                        </a:rPr>
                        <a:t>Coffee House Holdings </a:t>
                      </a:r>
                      <a:endParaRPr lang="en-IN" sz="1500" dirty="0">
                        <a:latin typeface="Verdana" panose="020B0604030504040204" pitchFamily="34" charset="0"/>
                        <a:ea typeface="Verdana" panose="020B0604030504040204" pitchFamily="34" charset="0"/>
                      </a:endParaRPr>
                    </a:p>
                  </a:txBody>
                  <a:tcPr/>
                </a:tc>
                <a:tc>
                  <a:txBody>
                    <a:bodyPr/>
                    <a:lstStyle/>
                    <a:p>
                      <a:r>
                        <a:rPr lang="en-IN" sz="1500" dirty="0">
                          <a:latin typeface="Verdana" panose="020B0604030504040204" pitchFamily="34" charset="0"/>
                          <a:ea typeface="Verdana" panose="020B0604030504040204" pitchFamily="34" charset="0"/>
                        </a:rPr>
                        <a:t>1</a:t>
                      </a:r>
                    </a:p>
                  </a:txBody>
                  <a:tcPr/>
                </a:tc>
                <a:extLst>
                  <a:ext uri="{0D108BD9-81ED-4DB2-BD59-A6C34878D82A}">
                    <a16:rowId xmlns:a16="http://schemas.microsoft.com/office/drawing/2014/main" val="3272567461"/>
                  </a:ext>
                </a:extLst>
              </a:tr>
              <a:tr h="370840">
                <a:tc>
                  <a:txBody>
                    <a:bodyPr/>
                    <a:lstStyle/>
                    <a:p>
                      <a:r>
                        <a:rPr lang="en-US" sz="1500" dirty="0">
                          <a:latin typeface="Verdana" panose="020B0604030504040204" pitchFamily="34" charset="0"/>
                          <a:ea typeface="Verdana" panose="020B0604030504040204" pitchFamily="34" charset="0"/>
                        </a:rPr>
                        <a:t>Evolution Fresh </a:t>
                      </a:r>
                      <a:endParaRPr lang="en-IN" sz="1500" dirty="0">
                        <a:latin typeface="Verdana" panose="020B0604030504040204" pitchFamily="34" charset="0"/>
                        <a:ea typeface="Verdana" panose="020B0604030504040204" pitchFamily="34" charset="0"/>
                      </a:endParaRPr>
                    </a:p>
                  </a:txBody>
                  <a:tcPr/>
                </a:tc>
                <a:tc>
                  <a:txBody>
                    <a:bodyPr/>
                    <a:lstStyle/>
                    <a:p>
                      <a:r>
                        <a:rPr lang="en-IN" sz="1500" dirty="0">
                          <a:latin typeface="Verdana" panose="020B0604030504040204" pitchFamily="34" charset="0"/>
                          <a:ea typeface="Verdana" panose="020B0604030504040204" pitchFamily="34" charset="0"/>
                        </a:rPr>
                        <a:t>2</a:t>
                      </a:r>
                    </a:p>
                  </a:txBody>
                  <a:tcPr/>
                </a:tc>
                <a:extLst>
                  <a:ext uri="{0D108BD9-81ED-4DB2-BD59-A6C34878D82A}">
                    <a16:rowId xmlns:a16="http://schemas.microsoft.com/office/drawing/2014/main" val="3590341324"/>
                  </a:ext>
                </a:extLst>
              </a:tr>
              <a:tr h="370840">
                <a:tc>
                  <a:txBody>
                    <a:bodyPr/>
                    <a:lstStyle/>
                    <a:p>
                      <a:r>
                        <a:rPr lang="en-US" sz="1500" dirty="0">
                          <a:latin typeface="Verdana" panose="020B0604030504040204" pitchFamily="34" charset="0"/>
                          <a:ea typeface="Verdana" panose="020B0604030504040204" pitchFamily="34" charset="0"/>
                        </a:rPr>
                        <a:t>Starbucks</a:t>
                      </a:r>
                      <a:endParaRPr lang="en-IN" sz="1500" dirty="0">
                        <a:latin typeface="Verdana" panose="020B0604030504040204" pitchFamily="34" charset="0"/>
                        <a:ea typeface="Verdana" panose="020B0604030504040204" pitchFamily="34" charset="0"/>
                      </a:endParaRPr>
                    </a:p>
                  </a:txBody>
                  <a:tcPr/>
                </a:tc>
                <a:tc>
                  <a:txBody>
                    <a:bodyPr/>
                    <a:lstStyle/>
                    <a:p>
                      <a:r>
                        <a:rPr lang="en-IN" sz="1500" dirty="0">
                          <a:latin typeface="Verdana" panose="020B0604030504040204" pitchFamily="34" charset="0"/>
                          <a:ea typeface="Verdana" panose="020B0604030504040204" pitchFamily="34" charset="0"/>
                        </a:rPr>
                        <a:t>13311</a:t>
                      </a:r>
                    </a:p>
                  </a:txBody>
                  <a:tcPr/>
                </a:tc>
                <a:extLst>
                  <a:ext uri="{0D108BD9-81ED-4DB2-BD59-A6C34878D82A}">
                    <a16:rowId xmlns:a16="http://schemas.microsoft.com/office/drawing/2014/main" val="1490701666"/>
                  </a:ext>
                </a:extLst>
              </a:tr>
              <a:tr h="370840">
                <a:tc>
                  <a:txBody>
                    <a:bodyPr/>
                    <a:lstStyle/>
                    <a:p>
                      <a:r>
                        <a:rPr lang="en-IN" sz="1500" dirty="0">
                          <a:latin typeface="Verdana" panose="020B0604030504040204" pitchFamily="34" charset="0"/>
                          <a:ea typeface="Verdana" panose="020B0604030504040204" pitchFamily="34" charset="0"/>
                        </a:rPr>
                        <a:t>Teavana</a:t>
                      </a:r>
                    </a:p>
                  </a:txBody>
                  <a:tcPr/>
                </a:tc>
                <a:tc>
                  <a:txBody>
                    <a:bodyPr/>
                    <a:lstStyle/>
                    <a:p>
                      <a:r>
                        <a:rPr lang="en-IN" sz="1500" dirty="0">
                          <a:latin typeface="Verdana" panose="020B0604030504040204" pitchFamily="34" charset="0"/>
                          <a:ea typeface="Verdana" panose="020B0604030504040204" pitchFamily="34" charset="0"/>
                        </a:rPr>
                        <a:t>294</a:t>
                      </a:r>
                    </a:p>
                  </a:txBody>
                  <a:tcPr/>
                </a:tc>
                <a:extLst>
                  <a:ext uri="{0D108BD9-81ED-4DB2-BD59-A6C34878D82A}">
                    <a16:rowId xmlns:a16="http://schemas.microsoft.com/office/drawing/2014/main" val="3338973788"/>
                  </a:ext>
                </a:extLst>
              </a:tr>
            </a:tbl>
          </a:graphicData>
        </a:graphic>
      </p:graphicFrame>
      <p:sp>
        <p:nvSpPr>
          <p:cNvPr id="7" name="TextBox 6">
            <a:extLst>
              <a:ext uri="{FF2B5EF4-FFF2-40B4-BE49-F238E27FC236}">
                <a16:creationId xmlns:a16="http://schemas.microsoft.com/office/drawing/2014/main" id="{CA78E3DD-1BCD-4A07-A0DE-E7CA5EB2DBB2}"/>
              </a:ext>
            </a:extLst>
          </p:cNvPr>
          <p:cNvSpPr txBox="1"/>
          <p:nvPr/>
        </p:nvSpPr>
        <p:spPr>
          <a:xfrm>
            <a:off x="1182848" y="2139193"/>
            <a:ext cx="5176324" cy="646331"/>
          </a:xfrm>
          <a:prstGeom prst="rect">
            <a:avLst/>
          </a:prstGeom>
          <a:noFill/>
        </p:spPr>
        <p:txBody>
          <a:bodyPr wrap="square" rtlCol="0">
            <a:spAutoFit/>
          </a:bodyPr>
          <a:lstStyle/>
          <a:p>
            <a:r>
              <a:rPr lang="en-IN" dirty="0"/>
              <a:t>Below is brands name under which Starbucks operates in USA</a:t>
            </a:r>
          </a:p>
        </p:txBody>
      </p:sp>
      <p:pic>
        <p:nvPicPr>
          <p:cNvPr id="9" name="Picture 8">
            <a:extLst>
              <a:ext uri="{FF2B5EF4-FFF2-40B4-BE49-F238E27FC236}">
                <a16:creationId xmlns:a16="http://schemas.microsoft.com/office/drawing/2014/main" id="{70123CFD-484F-4D59-8AFF-C530399E2C96}"/>
              </a:ext>
            </a:extLst>
          </p:cNvPr>
          <p:cNvPicPr>
            <a:picLocks noChangeAspect="1"/>
          </p:cNvPicPr>
          <p:nvPr/>
        </p:nvPicPr>
        <p:blipFill>
          <a:blip r:embed="rId2"/>
          <a:stretch>
            <a:fillRect/>
          </a:stretch>
        </p:blipFill>
        <p:spPr>
          <a:xfrm>
            <a:off x="7183029" y="2462358"/>
            <a:ext cx="4116942" cy="366999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6820835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57918-9147-46CC-819F-B55F80EF5C2B}"/>
              </a:ext>
            </a:extLst>
          </p:cNvPr>
          <p:cNvSpPr>
            <a:spLocks noGrp="1"/>
          </p:cNvSpPr>
          <p:nvPr>
            <p:ph type="title"/>
          </p:nvPr>
        </p:nvSpPr>
        <p:spPr/>
        <p:txBody>
          <a:bodyPr>
            <a:normAutofit/>
          </a:bodyPr>
          <a:lstStyle/>
          <a:p>
            <a:r>
              <a:rPr lang="en-US" sz="4200" dirty="0">
                <a:latin typeface="Verdana" panose="020B0604030504040204" pitchFamily="34" charset="0"/>
                <a:ea typeface="Verdana" panose="020B0604030504040204" pitchFamily="34" charset="0"/>
              </a:rPr>
              <a:t>Top 10 states in US with high numbers of Starbucks stores</a:t>
            </a:r>
            <a:endParaRPr lang="en-IN" sz="4200" dirty="0">
              <a:latin typeface="Verdana" panose="020B0604030504040204" pitchFamily="34" charset="0"/>
              <a:ea typeface="Verdana" panose="020B0604030504040204" pitchFamily="34" charset="0"/>
            </a:endParaRPr>
          </a:p>
        </p:txBody>
      </p:sp>
      <p:pic>
        <p:nvPicPr>
          <p:cNvPr id="7" name="Content Placeholder 6">
            <a:extLst>
              <a:ext uri="{FF2B5EF4-FFF2-40B4-BE49-F238E27FC236}">
                <a16:creationId xmlns:a16="http://schemas.microsoft.com/office/drawing/2014/main" id="{72166211-81EF-4E3D-8FE1-73FB0C3F9330}"/>
              </a:ext>
            </a:extLst>
          </p:cNvPr>
          <p:cNvPicPr>
            <a:picLocks noGrp="1" noChangeAspect="1"/>
          </p:cNvPicPr>
          <p:nvPr>
            <p:ph idx="1"/>
          </p:nvPr>
        </p:nvPicPr>
        <p:blipFill>
          <a:blip r:embed="rId2"/>
          <a:stretch>
            <a:fillRect/>
          </a:stretch>
        </p:blipFill>
        <p:spPr>
          <a:xfrm>
            <a:off x="3698705" y="2591639"/>
            <a:ext cx="4416025" cy="3600000"/>
          </a:xfrm>
          <a:prstGeom prst="rect">
            <a:avLst/>
          </a:prstGeom>
          <a:ln>
            <a:noFill/>
          </a:ln>
          <a:effectLst>
            <a:outerShdw blurRad="292100" dist="139700" dir="2700000" algn="tl" rotWithShape="0">
              <a:srgbClr val="333333">
                <a:alpha val="65000"/>
              </a:srgbClr>
            </a:outerShdw>
          </a:effectLst>
        </p:spPr>
      </p:pic>
      <p:sp>
        <p:nvSpPr>
          <p:cNvPr id="9" name="TextBox 8">
            <a:extLst>
              <a:ext uri="{FF2B5EF4-FFF2-40B4-BE49-F238E27FC236}">
                <a16:creationId xmlns:a16="http://schemas.microsoft.com/office/drawing/2014/main" id="{97BAFB6D-A954-4916-9E2C-EB27916DDC94}"/>
              </a:ext>
            </a:extLst>
          </p:cNvPr>
          <p:cNvSpPr txBox="1"/>
          <p:nvPr/>
        </p:nvSpPr>
        <p:spPr>
          <a:xfrm>
            <a:off x="1181169" y="2143197"/>
            <a:ext cx="7870552" cy="323165"/>
          </a:xfrm>
          <a:prstGeom prst="rect">
            <a:avLst/>
          </a:prstGeom>
          <a:noFill/>
        </p:spPr>
        <p:txBody>
          <a:bodyPr wrap="square">
            <a:spAutoFit/>
          </a:bodyPr>
          <a:lstStyle/>
          <a:p>
            <a:pPr marL="285750" indent="-285750" algn="l">
              <a:buFont typeface="Wingdings" panose="05000000000000000000" pitchFamily="2" charset="2"/>
              <a:buChar char="§"/>
            </a:pPr>
            <a:r>
              <a:rPr lang="en-US" sz="1500" i="0" dirty="0">
                <a:solidFill>
                  <a:srgbClr val="000000"/>
                </a:solidFill>
                <a:effectLst/>
                <a:latin typeface="Verdana" panose="020B0604030504040204" pitchFamily="34" charset="0"/>
                <a:ea typeface="Verdana" panose="020B0604030504040204" pitchFamily="34" charset="0"/>
              </a:rPr>
              <a:t>California in USA has 32.53% of total numbe</a:t>
            </a:r>
            <a:r>
              <a:rPr lang="en-US" sz="1500" dirty="0">
                <a:solidFill>
                  <a:srgbClr val="000000"/>
                </a:solidFill>
                <a:latin typeface="Verdana" panose="020B0604030504040204" pitchFamily="34" charset="0"/>
                <a:ea typeface="Verdana" panose="020B0604030504040204" pitchFamily="34" charset="0"/>
              </a:rPr>
              <a:t>r </a:t>
            </a:r>
            <a:r>
              <a:rPr lang="en-US" sz="1500" i="0" dirty="0">
                <a:solidFill>
                  <a:srgbClr val="000000"/>
                </a:solidFill>
                <a:effectLst/>
                <a:latin typeface="Verdana" panose="020B0604030504040204" pitchFamily="34" charset="0"/>
                <a:ea typeface="Verdana" panose="020B0604030504040204" pitchFamily="34" charset="0"/>
              </a:rPr>
              <a:t>Starbucks stores</a:t>
            </a:r>
          </a:p>
        </p:txBody>
      </p:sp>
    </p:spTree>
    <p:extLst>
      <p:ext uri="{BB962C8B-B14F-4D97-AF65-F5344CB8AC3E}">
        <p14:creationId xmlns:p14="http://schemas.microsoft.com/office/powerpoint/2010/main" val="32813984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57918-9147-46CC-819F-B55F80EF5C2B}"/>
              </a:ext>
            </a:extLst>
          </p:cNvPr>
          <p:cNvSpPr>
            <a:spLocks noGrp="1"/>
          </p:cNvSpPr>
          <p:nvPr>
            <p:ph type="title"/>
          </p:nvPr>
        </p:nvSpPr>
        <p:spPr/>
        <p:txBody>
          <a:bodyPr>
            <a:normAutofit/>
          </a:bodyPr>
          <a:lstStyle/>
          <a:p>
            <a:r>
              <a:rPr lang="en-US" sz="4200" dirty="0">
                <a:latin typeface="Verdana" panose="020B0604030504040204" pitchFamily="34" charset="0"/>
                <a:ea typeface="Verdana" panose="020B0604030504040204" pitchFamily="34" charset="0"/>
              </a:rPr>
              <a:t>Distribution of Ownership of stores in USA</a:t>
            </a:r>
            <a:endParaRPr lang="en-IN" sz="4200" dirty="0">
              <a:latin typeface="Verdana" panose="020B0604030504040204" pitchFamily="34" charset="0"/>
              <a:ea typeface="Verdana" panose="020B0604030504040204" pitchFamily="34" charset="0"/>
            </a:endParaRPr>
          </a:p>
        </p:txBody>
      </p:sp>
      <p:sp>
        <p:nvSpPr>
          <p:cNvPr id="4" name="Content Placeholder 3">
            <a:extLst>
              <a:ext uri="{FF2B5EF4-FFF2-40B4-BE49-F238E27FC236}">
                <a16:creationId xmlns:a16="http://schemas.microsoft.com/office/drawing/2014/main" id="{32876B45-E6C3-4771-91EC-6328F325B7AA}"/>
              </a:ext>
            </a:extLst>
          </p:cNvPr>
          <p:cNvSpPr>
            <a:spLocks noGrp="1"/>
          </p:cNvSpPr>
          <p:nvPr>
            <p:ph idx="1"/>
          </p:nvPr>
        </p:nvSpPr>
        <p:spPr/>
        <p:txBody>
          <a:bodyPr>
            <a:normAutofit/>
          </a:bodyPr>
          <a:lstStyle/>
          <a:p>
            <a:pPr marL="285750" indent="-285750">
              <a:buFont typeface="Wingdings" panose="05000000000000000000" pitchFamily="2" charset="2"/>
              <a:buChar char="§"/>
            </a:pPr>
            <a:r>
              <a:rPr lang="en-US" sz="1500" i="0" dirty="0">
                <a:solidFill>
                  <a:srgbClr val="000000"/>
                </a:solidFill>
                <a:effectLst/>
                <a:latin typeface="Verdana" panose="020B0604030504040204" pitchFamily="34" charset="0"/>
                <a:ea typeface="Verdana" panose="020B0604030504040204" pitchFamily="34" charset="0"/>
              </a:rPr>
              <a:t> </a:t>
            </a:r>
            <a:r>
              <a:rPr lang="en-US" sz="1500" dirty="0">
                <a:solidFill>
                  <a:srgbClr val="000000"/>
                </a:solidFill>
                <a:latin typeface="Verdana" panose="020B0604030504040204" pitchFamily="34" charset="0"/>
                <a:ea typeface="Verdana" panose="020B0604030504040204" pitchFamily="34" charset="0"/>
              </a:rPr>
              <a:t>Company owned Starbuck are more in number than licensed.</a:t>
            </a:r>
          </a:p>
          <a:p>
            <a:endParaRPr lang="en-IN" sz="1500" dirty="0">
              <a:latin typeface="Verdana" panose="020B0604030504040204" pitchFamily="34" charset="0"/>
              <a:ea typeface="Verdana" panose="020B0604030504040204" pitchFamily="34" charset="0"/>
            </a:endParaRPr>
          </a:p>
        </p:txBody>
      </p:sp>
      <p:pic>
        <p:nvPicPr>
          <p:cNvPr id="7" name="Picture 6">
            <a:extLst>
              <a:ext uri="{FF2B5EF4-FFF2-40B4-BE49-F238E27FC236}">
                <a16:creationId xmlns:a16="http://schemas.microsoft.com/office/drawing/2014/main" id="{EC40BA85-7260-4B00-9979-0A2C0BCB278E}"/>
              </a:ext>
            </a:extLst>
          </p:cNvPr>
          <p:cNvPicPr>
            <a:picLocks noChangeAspect="1"/>
          </p:cNvPicPr>
          <p:nvPr/>
        </p:nvPicPr>
        <p:blipFill>
          <a:blip r:embed="rId2"/>
          <a:stretch>
            <a:fillRect/>
          </a:stretch>
        </p:blipFill>
        <p:spPr>
          <a:xfrm>
            <a:off x="3736701" y="2621459"/>
            <a:ext cx="5353050" cy="372427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7516836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57918-9147-46CC-819F-B55F80EF5C2B}"/>
              </a:ext>
            </a:extLst>
          </p:cNvPr>
          <p:cNvSpPr>
            <a:spLocks noGrp="1"/>
          </p:cNvSpPr>
          <p:nvPr>
            <p:ph type="title"/>
          </p:nvPr>
        </p:nvSpPr>
        <p:spPr/>
        <p:txBody>
          <a:bodyPr>
            <a:normAutofit/>
          </a:bodyPr>
          <a:lstStyle/>
          <a:p>
            <a:r>
              <a:rPr lang="en-US" sz="4200" dirty="0">
                <a:latin typeface="Verdana" panose="020B0604030504040204" pitchFamily="34" charset="0"/>
                <a:ea typeface="Verdana" panose="020B0604030504040204" pitchFamily="34" charset="0"/>
              </a:rPr>
              <a:t>Top 10 counties with maximum number of coffee stores</a:t>
            </a:r>
            <a:endParaRPr lang="en-IN" sz="4200" dirty="0">
              <a:latin typeface="Verdana" panose="020B0604030504040204" pitchFamily="34" charset="0"/>
              <a:ea typeface="Verdana" panose="020B0604030504040204" pitchFamily="34" charset="0"/>
            </a:endParaRPr>
          </a:p>
        </p:txBody>
      </p:sp>
      <p:pic>
        <p:nvPicPr>
          <p:cNvPr id="5" name="Content Placeholder 4">
            <a:extLst>
              <a:ext uri="{FF2B5EF4-FFF2-40B4-BE49-F238E27FC236}">
                <a16:creationId xmlns:a16="http://schemas.microsoft.com/office/drawing/2014/main" id="{5A963D81-727E-483F-8825-90641883BCEF}"/>
              </a:ext>
            </a:extLst>
          </p:cNvPr>
          <p:cNvPicPr>
            <a:picLocks noGrp="1" noChangeAspect="1"/>
          </p:cNvPicPr>
          <p:nvPr>
            <p:ph idx="1"/>
          </p:nvPr>
        </p:nvPicPr>
        <p:blipFill>
          <a:blip r:embed="rId2"/>
          <a:stretch>
            <a:fillRect/>
          </a:stretch>
        </p:blipFill>
        <p:spPr>
          <a:xfrm>
            <a:off x="1766887" y="2286765"/>
            <a:ext cx="8658225" cy="363855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8740925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486CC-A04C-488E-8EE4-21BCDFA36E7F}"/>
              </a:ext>
            </a:extLst>
          </p:cNvPr>
          <p:cNvSpPr>
            <a:spLocks noGrp="1"/>
          </p:cNvSpPr>
          <p:nvPr>
            <p:ph type="title"/>
          </p:nvPr>
        </p:nvSpPr>
        <p:spPr/>
        <p:txBody>
          <a:bodyPr>
            <a:normAutofit/>
          </a:bodyPr>
          <a:lstStyle/>
          <a:p>
            <a:r>
              <a:rPr lang="en-US" sz="4200" dirty="0">
                <a:latin typeface="Verdana" panose="020B0604030504040204" pitchFamily="34" charset="0"/>
                <a:ea typeface="Verdana" panose="020B0604030504040204" pitchFamily="34" charset="0"/>
              </a:rPr>
              <a:t>Top 10 cities in the world with more Number of Starbucks stores</a:t>
            </a:r>
            <a:endParaRPr lang="en-IN" sz="4200" dirty="0">
              <a:latin typeface="Verdana" panose="020B0604030504040204" pitchFamily="34" charset="0"/>
              <a:ea typeface="Verdana" panose="020B0604030504040204" pitchFamily="34" charset="0"/>
            </a:endParaRPr>
          </a:p>
        </p:txBody>
      </p:sp>
      <p:sp>
        <p:nvSpPr>
          <p:cNvPr id="3" name="Content Placeholder 2">
            <a:extLst>
              <a:ext uri="{FF2B5EF4-FFF2-40B4-BE49-F238E27FC236}">
                <a16:creationId xmlns:a16="http://schemas.microsoft.com/office/drawing/2014/main" id="{D3C6D848-BD60-4F89-8BE0-73F7AE5B99F7}"/>
              </a:ext>
            </a:extLst>
          </p:cNvPr>
          <p:cNvSpPr>
            <a:spLocks noGrp="1"/>
          </p:cNvSpPr>
          <p:nvPr>
            <p:ph idx="1"/>
          </p:nvPr>
        </p:nvSpPr>
        <p:spPr/>
        <p:txBody>
          <a:bodyPr>
            <a:normAutofit/>
          </a:bodyPr>
          <a:lstStyle/>
          <a:p>
            <a:r>
              <a:rPr lang="en-IN" sz="1500" dirty="0">
                <a:latin typeface="Verdana" panose="020B0604030504040204" pitchFamily="34" charset="0"/>
                <a:ea typeface="Verdana" panose="020B0604030504040204" pitchFamily="34" charset="0"/>
              </a:rPr>
              <a:t>Shanghai in China has more number of Starbucks stores according to data.</a:t>
            </a:r>
          </a:p>
        </p:txBody>
      </p:sp>
      <p:pic>
        <p:nvPicPr>
          <p:cNvPr id="5" name="Picture 4">
            <a:extLst>
              <a:ext uri="{FF2B5EF4-FFF2-40B4-BE49-F238E27FC236}">
                <a16:creationId xmlns:a16="http://schemas.microsoft.com/office/drawing/2014/main" id="{FBAEA2A6-540F-4485-9E4F-3C82676BA6CA}"/>
              </a:ext>
            </a:extLst>
          </p:cNvPr>
          <p:cNvPicPr>
            <a:picLocks noChangeAspect="1"/>
          </p:cNvPicPr>
          <p:nvPr/>
        </p:nvPicPr>
        <p:blipFill>
          <a:blip r:embed="rId2"/>
          <a:stretch>
            <a:fillRect/>
          </a:stretch>
        </p:blipFill>
        <p:spPr>
          <a:xfrm>
            <a:off x="2594383" y="2564715"/>
            <a:ext cx="7372350" cy="359092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186765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F40F9F6-A4AD-46E2-8670-B2AA916A1671}"/>
              </a:ext>
            </a:extLst>
          </p:cNvPr>
          <p:cNvSpPr txBox="1"/>
          <p:nvPr/>
        </p:nvSpPr>
        <p:spPr>
          <a:xfrm>
            <a:off x="1182848" y="1786855"/>
            <a:ext cx="10528183" cy="1477328"/>
          </a:xfrm>
          <a:prstGeom prst="rect">
            <a:avLst/>
          </a:prstGeom>
          <a:noFill/>
        </p:spPr>
        <p:txBody>
          <a:bodyPr wrap="square" rtlCol="0">
            <a:spAutoFit/>
          </a:bodyPr>
          <a:lstStyle/>
          <a:p>
            <a:pPr marL="285750" indent="-285750">
              <a:buFont typeface="Wingdings" panose="05000000000000000000" pitchFamily="2" charset="2"/>
              <a:buChar char="§"/>
            </a:pPr>
            <a:r>
              <a:rPr lang="en-IN" dirty="0"/>
              <a:t>Link for Jupyter notebook for Starbucks store location analysis to analyse the Starbucks market in different countries based on demographic Data.</a:t>
            </a:r>
          </a:p>
          <a:p>
            <a:endParaRPr lang="en-IN" dirty="0"/>
          </a:p>
          <a:p>
            <a:endParaRPr lang="en-IN" dirty="0"/>
          </a:p>
          <a:p>
            <a:pPr algn="ctr"/>
            <a:r>
              <a:rPr lang="en-IN" dirty="0">
                <a:hlinkClick r:id="rId2"/>
              </a:rPr>
              <a:t>https://github.com/abhijitmorye/Data_Analysis_and_Visulization.git</a:t>
            </a:r>
            <a:endParaRPr lang="en-IN" dirty="0"/>
          </a:p>
        </p:txBody>
      </p:sp>
    </p:spTree>
    <p:extLst>
      <p:ext uri="{BB962C8B-B14F-4D97-AF65-F5344CB8AC3E}">
        <p14:creationId xmlns:p14="http://schemas.microsoft.com/office/powerpoint/2010/main" val="5997480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486CC-A04C-488E-8EE4-21BCDFA36E7F}"/>
              </a:ext>
            </a:extLst>
          </p:cNvPr>
          <p:cNvSpPr>
            <a:spLocks noGrp="1"/>
          </p:cNvSpPr>
          <p:nvPr>
            <p:ph type="title"/>
          </p:nvPr>
        </p:nvSpPr>
        <p:spPr>
          <a:xfrm>
            <a:off x="1097280" y="286603"/>
            <a:ext cx="10058400" cy="1089191"/>
          </a:xfrm>
        </p:spPr>
        <p:txBody>
          <a:bodyPr>
            <a:normAutofit/>
          </a:bodyPr>
          <a:lstStyle/>
          <a:p>
            <a:r>
              <a:rPr lang="en-US" sz="4200" dirty="0">
                <a:latin typeface="Verdana" panose="020B0604030504040204" pitchFamily="34" charset="0"/>
                <a:ea typeface="Verdana" panose="020B0604030504040204" pitchFamily="34" charset="0"/>
              </a:rPr>
              <a:t>References -</a:t>
            </a:r>
            <a:endParaRPr lang="en-IN" sz="4200" dirty="0">
              <a:latin typeface="Verdana" panose="020B0604030504040204" pitchFamily="34" charset="0"/>
              <a:ea typeface="Verdana" panose="020B0604030504040204" pitchFamily="34" charset="0"/>
            </a:endParaRPr>
          </a:p>
        </p:txBody>
      </p:sp>
      <p:sp>
        <p:nvSpPr>
          <p:cNvPr id="3" name="Content Placeholder 2">
            <a:extLst>
              <a:ext uri="{FF2B5EF4-FFF2-40B4-BE49-F238E27FC236}">
                <a16:creationId xmlns:a16="http://schemas.microsoft.com/office/drawing/2014/main" id="{D3C6D848-BD60-4F89-8BE0-73F7AE5B99F7}"/>
              </a:ext>
            </a:extLst>
          </p:cNvPr>
          <p:cNvSpPr>
            <a:spLocks noGrp="1"/>
          </p:cNvSpPr>
          <p:nvPr>
            <p:ph idx="1"/>
          </p:nvPr>
        </p:nvSpPr>
        <p:spPr>
          <a:xfrm>
            <a:off x="1097280" y="2359871"/>
            <a:ext cx="10058400" cy="3269142"/>
          </a:xfrm>
        </p:spPr>
        <p:txBody>
          <a:bodyPr>
            <a:normAutofit/>
          </a:bodyPr>
          <a:lstStyle/>
          <a:p>
            <a:pPr>
              <a:buFont typeface="Wingdings" panose="05000000000000000000" pitchFamily="2" charset="2"/>
              <a:buChar char="q"/>
            </a:pPr>
            <a:r>
              <a:rPr lang="en-IN" sz="1500" dirty="0">
                <a:latin typeface="Verdana" panose="020B0604030504040204" pitchFamily="34" charset="0"/>
                <a:ea typeface="Verdana" panose="020B0604030504040204" pitchFamily="34" charset="0"/>
                <a:hlinkClick r:id="rId2"/>
              </a:rPr>
              <a:t> https://digital.hbs.edu/platform-digit/submission/starbucks-secret-ingredient-data-analytics/</a:t>
            </a:r>
            <a:endParaRPr lang="en-IN" sz="1500" dirty="0">
              <a:latin typeface="Verdana" panose="020B0604030504040204" pitchFamily="34" charset="0"/>
              <a:ea typeface="Verdana" panose="020B0604030504040204" pitchFamily="34" charset="0"/>
            </a:endParaRPr>
          </a:p>
          <a:p>
            <a:pPr>
              <a:buFont typeface="Wingdings" panose="05000000000000000000" pitchFamily="2" charset="2"/>
              <a:buChar char="q"/>
            </a:pPr>
            <a:r>
              <a:rPr lang="en-IN" sz="1500" dirty="0">
                <a:latin typeface="Verdana" panose="020B0604030504040204" pitchFamily="34" charset="0"/>
                <a:ea typeface="Verdana" panose="020B0604030504040204" pitchFamily="34" charset="0"/>
                <a:hlinkClick r:id="rId3"/>
              </a:rPr>
              <a:t> https://www.forbes.com/sites/bernardmarr/2018/05/28/starbucks-using-big-data-analytics-and- artificial-intelligence-to-boost-performance/?sh=3df2e60065cd</a:t>
            </a:r>
            <a:endParaRPr lang="en-IN" sz="1500" dirty="0">
              <a:latin typeface="Verdana" panose="020B0604030504040204" pitchFamily="34" charset="0"/>
              <a:ea typeface="Verdana" panose="020B0604030504040204" pitchFamily="34" charset="0"/>
            </a:endParaRPr>
          </a:p>
          <a:p>
            <a:pPr>
              <a:buFont typeface="Wingdings" panose="05000000000000000000" pitchFamily="2" charset="2"/>
              <a:buChar char="q"/>
            </a:pPr>
            <a:r>
              <a:rPr lang="en-IN" sz="1500" dirty="0">
                <a:latin typeface="Verdana" panose="020B0604030504040204" pitchFamily="34" charset="0"/>
                <a:ea typeface="Verdana" panose="020B0604030504040204" pitchFamily="34" charset="0"/>
                <a:hlinkClick r:id="rId4"/>
              </a:rPr>
              <a:t> https://en.wikipedia.org/wiki/Starbucks</a:t>
            </a:r>
            <a:endParaRPr lang="en-IN" sz="1500" dirty="0">
              <a:latin typeface="Verdana" panose="020B0604030504040204" pitchFamily="34" charset="0"/>
              <a:ea typeface="Verdana" panose="020B0604030504040204" pitchFamily="34" charset="0"/>
            </a:endParaRPr>
          </a:p>
          <a:p>
            <a:pPr>
              <a:buFont typeface="Wingdings" panose="05000000000000000000" pitchFamily="2" charset="2"/>
              <a:buChar char="q"/>
            </a:pPr>
            <a:r>
              <a:rPr lang="en-IN" sz="1500" dirty="0">
                <a:latin typeface="Verdana" panose="020B0604030504040204" pitchFamily="34" charset="0"/>
                <a:ea typeface="Verdana" panose="020B0604030504040204" pitchFamily="34" charset="0"/>
                <a:hlinkClick r:id="rId5"/>
              </a:rPr>
              <a:t> https://demand-planning.com/2018/05/29/how-starbucks-uses-predictive-analytics-and-your-loyalty-card-data/</a:t>
            </a:r>
            <a:endParaRPr lang="en-IN" sz="1500" dirty="0">
              <a:latin typeface="Verdana" panose="020B0604030504040204" pitchFamily="34" charset="0"/>
              <a:ea typeface="Verdana" panose="020B0604030504040204" pitchFamily="34" charset="0"/>
            </a:endParaRPr>
          </a:p>
          <a:p>
            <a:pPr>
              <a:buFont typeface="Wingdings" panose="05000000000000000000" pitchFamily="2" charset="2"/>
              <a:buChar char="q"/>
            </a:pPr>
            <a:r>
              <a:rPr lang="en-IN" sz="1500" dirty="0">
                <a:latin typeface="Verdana" panose="020B0604030504040204" pitchFamily="34" charset="0"/>
                <a:ea typeface="Verdana" panose="020B0604030504040204" pitchFamily="34" charset="0"/>
                <a:hlinkClick r:id="rId6"/>
              </a:rPr>
              <a:t> https://www.thebalancesmb.com/starbucks-use-of-market-research-propels-the-brand-2297155</a:t>
            </a:r>
            <a:endParaRPr lang="en-IN" sz="1500" dirty="0">
              <a:latin typeface="Verdana" panose="020B0604030504040204" pitchFamily="34" charset="0"/>
              <a:ea typeface="Verdana" panose="020B0604030504040204" pitchFamily="34" charset="0"/>
            </a:endParaRPr>
          </a:p>
          <a:p>
            <a:pPr>
              <a:buFont typeface="Wingdings" panose="05000000000000000000" pitchFamily="2" charset="2"/>
              <a:buChar char="q"/>
            </a:pPr>
            <a:r>
              <a:rPr lang="en-IN" sz="1500" dirty="0">
                <a:latin typeface="Verdana" panose="020B0604030504040204" pitchFamily="34" charset="0"/>
                <a:ea typeface="Verdana" panose="020B0604030504040204" pitchFamily="34" charset="0"/>
                <a:hlinkClick r:id="rId7"/>
              </a:rPr>
              <a:t> https://www.kaggle.com/umeshnarayanappa/explore-starbucks-worldwide-stores/data</a:t>
            </a:r>
            <a:endParaRPr lang="en-IN" sz="1500" dirty="0">
              <a:latin typeface="Verdana" panose="020B0604030504040204" pitchFamily="34" charset="0"/>
              <a:ea typeface="Verdana" panose="020B0604030504040204" pitchFamily="34" charset="0"/>
            </a:endParaRPr>
          </a:p>
          <a:p>
            <a:endParaRPr lang="en-IN" sz="1500" dirty="0">
              <a:latin typeface="Verdana" panose="020B0604030504040204" pitchFamily="34" charset="0"/>
              <a:ea typeface="Verdana" panose="020B0604030504040204" pitchFamily="34" charset="0"/>
            </a:endParaRPr>
          </a:p>
          <a:p>
            <a:endParaRPr lang="en-IN" sz="15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4941888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63F2FA-BAD3-4B84-8D2B-3E455323DBB7}"/>
              </a:ext>
            </a:extLst>
          </p:cNvPr>
          <p:cNvSpPr txBox="1"/>
          <p:nvPr/>
        </p:nvSpPr>
        <p:spPr>
          <a:xfrm>
            <a:off x="4253218" y="2613392"/>
            <a:ext cx="3548543" cy="815608"/>
          </a:xfrm>
          <a:prstGeom prst="rect">
            <a:avLst/>
          </a:prstGeom>
          <a:noFill/>
        </p:spPr>
        <p:txBody>
          <a:bodyPr wrap="square" rtlCol="0">
            <a:spAutoFit/>
          </a:bodyPr>
          <a:lstStyle/>
          <a:p>
            <a:r>
              <a:rPr lang="en-IN" sz="4700" dirty="0">
                <a:latin typeface="Verdana" panose="020B0604030504040204" pitchFamily="34" charset="0"/>
                <a:ea typeface="Verdana" panose="020B0604030504040204" pitchFamily="34" charset="0"/>
              </a:rPr>
              <a:t>Thank You</a:t>
            </a:r>
          </a:p>
        </p:txBody>
      </p:sp>
    </p:spTree>
    <p:extLst>
      <p:ext uri="{BB962C8B-B14F-4D97-AF65-F5344CB8AC3E}">
        <p14:creationId xmlns:p14="http://schemas.microsoft.com/office/powerpoint/2010/main" val="699931781"/>
      </p:ext>
    </p:extLst>
  </p:cSld>
  <p:clrMapOvr>
    <a:masterClrMapping/>
  </p:clrMapOvr>
</p:sld>
</file>

<file path=ppt/theme/theme1.xml><?xml version="1.0" encoding="utf-8"?>
<a:theme xmlns:a="http://schemas.openxmlformats.org/drawingml/2006/main" name="1_RetrospectVTI">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769520F8-BFE5-4C8C-A7AA-375C025A91CE}" vid="{AEAFD717-D3C8-4034-8F7E-D5220B0CCEB8}"/>
    </a:ext>
  </a:extLst>
</a:theme>
</file>

<file path=docProps/app.xml><?xml version="1.0" encoding="utf-8"?>
<Properties xmlns="http://schemas.openxmlformats.org/officeDocument/2006/extended-properties" xmlns:vt="http://schemas.openxmlformats.org/officeDocument/2006/docPropsVTypes">
  <Template>{3881B10F-DA20-443D-A49A-15D19BD3E523}tf56160789_win32</Template>
  <TotalTime>1213</TotalTime>
  <Words>1692</Words>
  <Application>Microsoft Office PowerPoint</Application>
  <PresentationFormat>Widescreen</PresentationFormat>
  <Paragraphs>226</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Bookman Old Style</vt:lpstr>
      <vt:lpstr>Calibri</vt:lpstr>
      <vt:lpstr>Franklin Gothic Book</vt:lpstr>
      <vt:lpstr>Verdana</vt:lpstr>
      <vt:lpstr>Wingdings</vt:lpstr>
      <vt:lpstr>1_RetrospectVTI</vt:lpstr>
      <vt:lpstr>Starbucks Market Analysis</vt:lpstr>
      <vt:lpstr>Agenda</vt:lpstr>
      <vt:lpstr>Objective</vt:lpstr>
      <vt:lpstr>About Starbucks</vt:lpstr>
      <vt:lpstr>Different Data sources of Starbucks</vt:lpstr>
      <vt:lpstr>Understanding data collected from different sources</vt:lpstr>
      <vt:lpstr>Understanding data collected from different sources</vt:lpstr>
      <vt:lpstr>Understanding data collected from different sources</vt:lpstr>
      <vt:lpstr>Understanding data collected from different sources</vt:lpstr>
      <vt:lpstr>Understanding data collected from different sources</vt:lpstr>
      <vt:lpstr>Areas to be focused on for Marketing</vt:lpstr>
      <vt:lpstr>Areas to be focused on for Marketing</vt:lpstr>
      <vt:lpstr>Areas to be focused on for Marketing</vt:lpstr>
      <vt:lpstr>Areas to be focused on for Marketing</vt:lpstr>
      <vt:lpstr>Areas to be focused on for Marketing</vt:lpstr>
      <vt:lpstr>Starbucks Stores Location Analysis </vt:lpstr>
      <vt:lpstr>Details of columns in CSV file</vt:lpstr>
      <vt:lpstr>Size and Information about data</vt:lpstr>
      <vt:lpstr>Distribution of Brands names under which Starbucks operates</vt:lpstr>
      <vt:lpstr>Top 10 counties with maximum number of coffee stores</vt:lpstr>
      <vt:lpstr>Distribution of coffee stores in US</vt:lpstr>
      <vt:lpstr>Top 10 states in US with high numbers of Starbucks stores</vt:lpstr>
      <vt:lpstr>Distribution of Ownership of stores in USA</vt:lpstr>
      <vt:lpstr>Top 10 counties with maximum number of coffee stores</vt:lpstr>
      <vt:lpstr>Top 10 cities in the world with more Number of Starbucks stores</vt:lpstr>
      <vt:lpstr>PowerPoint Presentation</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Starbucks Market Analysis</dc:title>
  <dc:creator>Abhijit Morye</dc:creator>
  <cp:lastModifiedBy>Abhijit Morye</cp:lastModifiedBy>
  <cp:revision>9</cp:revision>
  <dcterms:created xsi:type="dcterms:W3CDTF">2021-09-18T23:17:29Z</dcterms:created>
  <dcterms:modified xsi:type="dcterms:W3CDTF">2021-09-28T23:56:20Z</dcterms:modified>
</cp:coreProperties>
</file>